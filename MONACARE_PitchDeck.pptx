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0" y="-91440"/>
            <a:ext cx="3200400" cy="182880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3840480"/>
            <a:ext cx="1828800" cy="164592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mp8fd7nj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50292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1" i="0" sz="4400">
                <a:solidFill>
                  <a:srgbClr val="FFFFFF"/>
                </a:solidFill>
                <a:latin typeface="Poppins"/>
              </a:rPr>
              <a:t>MONACARE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7315200" cy="41148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1500">
                <a:solidFill>
                  <a:srgbClr val="DCC0C3"/>
                </a:solidFill>
                <a:latin typeface="Poppins Light"/>
              </a:rPr>
              <a:t>Home care coordination — built for the patient, the team and the family.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3401568"/>
            <a:ext cx="2194560" cy="27432"/>
          </a:xfrm>
          <a:prstGeom prst="rect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09744"/>
            <a:ext cx="822960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900">
                <a:solidFill>
                  <a:srgbClr val="DCC0C3"/>
                </a:solidFill>
                <a:latin typeface="Lato"/>
              </a:rPr>
              <a:t>monacare.mc — Monaco,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4114800" cy="5079492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3566160" cy="128016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200">
                <a:solidFill>
                  <a:srgbClr val="FFFFFF"/>
                </a:solidFill>
                <a:latin typeface="Poppins"/>
              </a:rPr>
              <a:t>A PROJECT BUILT</a:t>
            </a:r>
          </a:p>
          <a:p>
            <a:pPr algn="l"/>
            <a:r>
              <a:rPr b="1" i="0" sz="2200">
                <a:solidFill>
                  <a:srgbClr val="FFFFFF"/>
                </a:solidFill>
                <a:latin typeface="Poppins"/>
              </a:rPr>
              <a:t>FROM THE FIELD.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3566160" cy="54864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DCC0C3"/>
                </a:solidFill>
                <a:latin typeface="Poppins Light"/>
              </a:rPr>
              <a:t>Not a concept from a whiteboard — an observation from daily practice.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359152"/>
            <a:ext cx="3291840" cy="2743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487168"/>
            <a:ext cx="3566160" cy="100584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DCC0C3"/>
                </a:solidFill>
                <a:latin typeface="Lato"/>
              </a:rPr>
              <a:t>The founder of MONACARE is a physiotherapist practising in Monaco. Every day, he coordinates care around vulnerable patients alongside nurses, doctors, home companions and legal curators.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584448"/>
            <a:ext cx="3566160" cy="45720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050">
                <a:solidFill>
                  <a:srgbClr val="DCC0C3"/>
                </a:solidFill>
                <a:latin typeface="Poppins"/>
              </a:rPr>
              <a:t>He knows the system from the inside — and he knows precisely what is missing.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01168"/>
            <a:ext cx="452628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90021"/>
                </a:solidFill>
                <a:latin typeface="Lato Semibold"/>
              </a:rPr>
              <a:t>What he kept observing: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621792"/>
            <a:ext cx="36576" cy="53035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621792"/>
            <a:ext cx="434340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1C1B1C"/>
                </a:solidFill>
                <a:latin typeface="Lato Semibold"/>
              </a:rPr>
              <a:t>Families calling professionals directly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896112"/>
            <a:ext cx="434340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because no structured channel exists — and receiving incomplete answers.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26464"/>
            <a:ext cx="36576" cy="53035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26464"/>
            <a:ext cx="434340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1C1B1C"/>
                </a:solidFill>
                <a:latin typeface="Lato Semibold"/>
              </a:rPr>
              <a:t>Updates shared by text 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700784"/>
            <a:ext cx="434340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or simply not shared at all. No one has the full picture.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2231136"/>
            <a:ext cx="36576" cy="53035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231136"/>
            <a:ext cx="434340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1C1B1C"/>
                </a:solidFill>
                <a:latin typeface="Lato Semibold"/>
              </a:rPr>
              <a:t>Every professional doing good work in isolation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505456"/>
            <a:ext cx="434340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without seeing what the others are doing around the same patient.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035808"/>
            <a:ext cx="36576" cy="53035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035808"/>
            <a:ext cx="434340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1C1B1C"/>
                </a:solidFill>
                <a:latin typeface="Lato Semibold"/>
              </a:rPr>
              <a:t>Curators managing several cases at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310128"/>
            <a:ext cx="434340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with no consolidated tool — just spreadsheets and phone calls.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3840480"/>
            <a:ext cx="36576" cy="53035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840480"/>
            <a:ext cx="434340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1C1B1C"/>
                </a:solidFill>
                <a:latin typeface="Lato Semibold"/>
              </a:rPr>
              <a:t>Observations and alerts that disappear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114800"/>
            <a:ext cx="434340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into WhatsApp threads, notebooks and memory. Nothing is traceable.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F7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46320"/>
            <a:ext cx="822960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1" sz="1050">
                <a:solidFill>
                  <a:srgbClr val="590021"/>
                </a:solidFill>
                <a:latin typeface="Lato"/>
              </a:rPr>
              <a:t>“MONACARE is the tool he always wished existed.”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600">
                <a:solidFill>
                  <a:srgbClr val="590021"/>
                </a:solidFill>
                <a:latin typeface="Poppins"/>
              </a:rPr>
              <a:t>When care is uncoordinated, everyone loses.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64245"/>
                </a:solidFill>
                <a:latin typeface="Lato"/>
              </a:rPr>
              <a:t>Home care involves many professionals — but no shared space connects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2697480" cy="349300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2697480" cy="54864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1207" y="1481328"/>
            <a:ext cx="420624" cy="420624"/>
          </a:xfrm>
          <a:prstGeom prst="ellipse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481328"/>
            <a:ext cx="420624" cy="42062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084831"/>
            <a:ext cx="242316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50">
                <a:solidFill>
                  <a:srgbClr val="590021"/>
                </a:solidFill>
                <a:latin typeface="Poppins"/>
              </a:rPr>
              <a:t>The family is left in the dark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633472"/>
            <a:ext cx="2423160" cy="20299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Families don’t know what happened during the nurse’s visit, whether the physio came, or what the doctor recommended.</a:t>
            </a:r>
          </a:p>
          <a:p>
            <a:pPr algn="l"/>
          </a:p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They call. They send messages. They worry. There is no structured way to keep them informed.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1298448"/>
            <a:ext cx="2697480" cy="349300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1298448"/>
            <a:ext cx="2697480" cy="54864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6" y="1481328"/>
            <a:ext cx="420624" cy="420624"/>
          </a:xfrm>
          <a:prstGeom prst="ellipse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481328"/>
            <a:ext cx="420624" cy="42062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084831"/>
            <a:ext cx="242316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50">
                <a:solidFill>
                  <a:srgbClr val="590021"/>
                </a:solidFill>
                <a:latin typeface="Poppins"/>
              </a:rPr>
              <a:t>The team works in silos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633472"/>
            <a:ext cx="2423160" cy="20299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A nurse, a physiotherapist, a companion and a doctor can all care for the same patient — without seeing what the others are doing.</a:t>
            </a:r>
          </a:p>
          <a:p>
            <a:pPr algn="l"/>
          </a:p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No shared record. No shared channel. Just phone calls and good intentions.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5896" y="1298448"/>
            <a:ext cx="2697480" cy="349300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1298448"/>
            <a:ext cx="2697480" cy="54864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1481328"/>
            <a:ext cx="420624" cy="420624"/>
          </a:xfrm>
          <a:prstGeom prst="ellipse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1481328"/>
            <a:ext cx="420624" cy="42062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084831"/>
            <a:ext cx="242316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50">
                <a:solidFill>
                  <a:srgbClr val="590021"/>
                </a:solidFill>
                <a:latin typeface="Poppins"/>
              </a:rPr>
              <a:t>Nothing is traceable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2633472"/>
            <a:ext cx="2423160" cy="20299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Observations, alerts and recommendations exist — but disappear. Into a WhatsApp thread. A notebook. Someone’s memory.</a:t>
            </a:r>
          </a:p>
          <a:p>
            <a:pPr algn="l"/>
          </a:p>
          <a:p>
            <a:pPr algn="l"/>
            <a:r>
              <a:rPr b="0" i="0" sz="1000">
                <a:solidFill>
                  <a:srgbClr val="564245"/>
                </a:solidFill>
                <a:latin typeface="Lato"/>
              </a:rPr>
              <a:t>There is no reliable record of what was done, when, and by whom.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8fd7nj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627632"/>
            <a:ext cx="3749039" cy="34747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DCC0C3"/>
                </a:solidFill>
                <a:latin typeface="Poppins Medium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993392"/>
            <a:ext cx="3749039" cy="56692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3200">
                <a:solidFill>
                  <a:srgbClr val="FFFFFF"/>
                </a:solidFill>
                <a:latin typeface="Poppins"/>
              </a:rPr>
              <a:t>MONACARE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633472"/>
            <a:ext cx="3749039" cy="7498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200">
                <a:solidFill>
                  <a:srgbClr val="DCC0C3"/>
                </a:solidFill>
                <a:latin typeface="Lato"/>
              </a:rPr>
              <a:t>A shared coordination space for everyone involved in a patient’s care — designed for the way home care actually works.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474720"/>
            <a:ext cx="3291840" cy="2743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" y="3639312"/>
            <a:ext cx="82296" cy="82296"/>
          </a:xfrm>
          <a:prstGeom prst="ellipse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356616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DCC0C3"/>
                </a:solidFill>
                <a:latin typeface="Lato"/>
              </a:rPr>
              <a:t>The family stays informed — without having to call anyone.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4005072"/>
            <a:ext cx="82296" cy="82296"/>
          </a:xfrm>
          <a:prstGeom prst="ellipse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950208"/>
            <a:ext cx="356616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DCC0C3"/>
                </a:solidFill>
                <a:latin typeface="Lato"/>
              </a:rPr>
              <a:t>The care team shares updates in real time, across every intervention.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4370832"/>
            <a:ext cx="82296" cy="82296"/>
          </a:xfrm>
          <a:prstGeom prst="ellipse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315968"/>
            <a:ext cx="356616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DCC0C3"/>
                </a:solidFill>
                <a:latin typeface="Lato"/>
              </a:rPr>
              <a:t>Every observation is logged, traceable, and accessible when needed.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82880"/>
            <a:ext cx="3566160" cy="4754880"/>
          </a:xfrm>
          <a:prstGeom prst="rect">
            <a:avLst/>
          </a:prstGeom>
          <a:solidFill>
            <a:srgbClr val="1C1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welc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4" y="329184"/>
            <a:ext cx="3273552" cy="446227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00800" y="182880"/>
            <a:ext cx="822960" cy="182880"/>
          </a:xfrm>
          <a:prstGeom prst="rect">
            <a:avLst/>
          </a:prstGeom>
          <a:solidFill>
            <a:srgbClr val="1C1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600">
                <a:solidFill>
                  <a:srgbClr val="590021"/>
                </a:solidFill>
                <a:latin typeface="Poppins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64245"/>
                </a:solidFill>
                <a:latin typeface="Lato"/>
              </a:rPr>
              <a:t>Four functions — each solving a real coordination problem.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402336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99616"/>
            <a:ext cx="45720" cy="128016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80743"/>
            <a:ext cx="25603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300">
                <a:solidFill>
                  <a:srgbClr val="590021"/>
                </a:solidFill>
                <a:latin typeface="Poppins"/>
              </a:rPr>
              <a:t>The 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80743"/>
            <a:ext cx="109728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7B1535"/>
                </a:solidFill>
                <a:latin typeface="Poppins Medium"/>
              </a:rPr>
              <a:t>Shared care 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755648"/>
            <a:ext cx="3675888" cy="11521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564245"/>
                </a:solidFill>
                <a:latin typeface="Lato"/>
              </a:rPr>
              <a:t>Each professional logs what they observed or did. Families see relevant updates. Medical posts stay restricted to the clinical team. Everyone stays aligned — without a single phone call.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261872"/>
            <a:ext cx="402336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17720" y="1499616"/>
            <a:ext cx="45720" cy="128016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7176" y="1380743"/>
            <a:ext cx="25603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300">
                <a:solidFill>
                  <a:srgbClr val="590021"/>
                </a:solidFill>
                <a:latin typeface="Poppins"/>
              </a:rPr>
              <a:t>Medical Vault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380743"/>
            <a:ext cx="109728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590021"/>
                </a:solidFill>
                <a:latin typeface="Poppins Medium"/>
              </a:rPr>
              <a:t>Secure patient record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7176" y="1755648"/>
            <a:ext cx="3675888" cy="11521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564245"/>
                </a:solidFill>
                <a:latin typeface="Lato"/>
              </a:rPr>
              <a:t>A centralised, biometric-locked space for vital signs, pain tracking and clinical notes. Voice dictation for busy professionals. One source of truth — accessible from any device.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02336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38144"/>
            <a:ext cx="45720" cy="1280160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319272"/>
            <a:ext cx="25603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300">
                <a:solidFill>
                  <a:srgbClr val="590021"/>
                </a:solidFill>
                <a:latin typeface="Poppins"/>
              </a:rPr>
              <a:t>Role-Based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19272"/>
            <a:ext cx="109728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436653"/>
                </a:solidFill>
                <a:latin typeface="Poppins Medium"/>
              </a:rPr>
              <a:t>The right view for each person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94176"/>
            <a:ext cx="3675888" cy="11521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564245"/>
                </a:solidFill>
                <a:latin typeface="Lato"/>
              </a:rPr>
              <a:t>Every user — family, nurse, doctor, aide — sees only what they should. No self-registration: each account is validated by a platform administrator before first access.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3200400"/>
            <a:ext cx="402336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3438144"/>
            <a:ext cx="45720" cy="12801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37176" y="3319272"/>
            <a:ext cx="25603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300">
                <a:solidFill>
                  <a:srgbClr val="590021"/>
                </a:solidFill>
                <a:latin typeface="Poppins"/>
              </a:rPr>
              <a:t>Professional Messaging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19272"/>
            <a:ext cx="109728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1B4F72"/>
                </a:solidFill>
                <a:latin typeface="Poppins Medium"/>
              </a:rPr>
              <a:t>A clean channel for the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3694176"/>
            <a:ext cx="3675888" cy="11521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50">
                <a:solidFill>
                  <a:srgbClr val="564245"/>
                </a:solidFill>
                <a:latin typeface="Lato"/>
              </a:rPr>
              <a:t>Encrypted, structured messaging organised around the patient. No personal phones. No WhatsApp threads. A dedicated space for team communication.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4754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1" i="0" sz="2600">
                <a:solidFill>
                  <a:srgbClr val="FFFFFF"/>
                </a:solidFill>
                <a:latin typeface="Poppins"/>
              </a:rPr>
              <a:t>The platform —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822960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1100">
                <a:solidFill>
                  <a:srgbClr val="DCC0C3"/>
                </a:solidFill>
                <a:latin typeface="Poppins Light"/>
              </a:rPr>
              <a:t>Live prototype, available on web and mobile.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929" y="841248"/>
            <a:ext cx="2331720" cy="365760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welc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69" y="932688"/>
            <a:ext cx="214884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7209" y="4535424"/>
            <a:ext cx="24231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  <a:latin typeface="Poppins"/>
              </a:rPr>
              <a:t>Welcome &amp;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7209" y="4828032"/>
            <a:ext cx="2423160" cy="32918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850">
                <a:solidFill>
                  <a:srgbClr val="DCC0C3"/>
                </a:solidFill>
                <a:latin typeface="Lato"/>
              </a:rPr>
              <a:t>Role-based onboarding — each user enters with the access level assigned by the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6139" y="841248"/>
            <a:ext cx="2331720" cy="365760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_flu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7579" y="932688"/>
            <a:ext cx="2148840" cy="3474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60420" y="4535424"/>
            <a:ext cx="24231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  <a:latin typeface="Poppins"/>
              </a:rPr>
              <a:t>The Flux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4828032"/>
            <a:ext cx="2423160" cy="32918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850">
                <a:solidFill>
                  <a:srgbClr val="DCC0C3"/>
                </a:solidFill>
                <a:latin typeface="Lato"/>
              </a:rPr>
              <a:t>Real-time care feed — updates from nurses, physios, companions and family, in one 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9350" y="841248"/>
            <a:ext cx="2331720" cy="365760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_coff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790" y="932688"/>
            <a:ext cx="2148840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3629" y="4535424"/>
            <a:ext cx="24231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  <a:latin typeface="Poppins"/>
              </a:rPr>
              <a:t>Medical Vault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3629" y="4828032"/>
            <a:ext cx="2423160" cy="32918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850">
                <a:solidFill>
                  <a:srgbClr val="DCC0C3"/>
                </a:solidFill>
                <a:latin typeface="Lato"/>
              </a:rPr>
              <a:t>Biometric-locked patient record — vital signs, pain tracking and clinical dictation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600">
                <a:solidFill>
                  <a:srgbClr val="590021"/>
                </a:solidFill>
                <a:latin typeface="Poppins"/>
              </a:rPr>
              <a:t>One platform, four roles.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64245"/>
                </a:solidFill>
                <a:latin typeface="Lato"/>
              </a:rPr>
              <a:t>Each user gets exactly the access they need — no more, no less.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261872"/>
            <a:ext cx="41605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61872"/>
            <a:ext cx="749808" cy="1508760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261872"/>
            <a:ext cx="749808" cy="150876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Poppins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389888"/>
            <a:ext cx="23317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Family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389888"/>
            <a:ext cx="8229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436653"/>
                </a:solidFill>
                <a:latin typeface="Poppins Medium"/>
              </a:rPr>
              <a:t>From EUR29/mo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1719072"/>
            <a:ext cx="3154680" cy="67665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Receives a personal access code from the care team. Follows the patient’s updates, sees who visited and when, and logs vital signs at home. No more calling around for news.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450591"/>
            <a:ext cx="315468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436653"/>
                </a:solidFill>
                <a:latin typeface="Poppins Medium"/>
              </a:rPr>
              <a:t>Informed without asking  |  Home vital log  |  Approve access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7" y="1261872"/>
            <a:ext cx="41605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7" y="1261872"/>
            <a:ext cx="749808" cy="150876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1261872"/>
            <a:ext cx="749808" cy="150876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Poppins"/>
              </a:rPr>
              <a:t>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1389888"/>
            <a:ext cx="23317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Healthcare Professional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7" y="1389888"/>
            <a:ext cx="8229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590021"/>
                </a:solidFill>
                <a:latin typeface="Poppins Medium"/>
              </a:rPr>
              <a:t>Always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0407" y="1719072"/>
            <a:ext cx="3154680" cy="67665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Nurses, doctors, physiotherapists. Account validated before first login. Posts updates to the Flux, consults the Medical Vault, uses voice dictation for clinical notes.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7" y="2450591"/>
            <a:ext cx="315468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590021"/>
                </a:solidFill>
                <a:latin typeface="Poppins Medium"/>
              </a:rPr>
              <a:t>Full Flux + Vault  |  Voice dictation  |  Medical-only visibility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2898648"/>
            <a:ext cx="41605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2898648"/>
            <a:ext cx="749808" cy="15087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2898648"/>
            <a:ext cx="749808" cy="150876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Poppi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3026664"/>
            <a:ext cx="23317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Companion / Aide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3026664"/>
            <a:ext cx="8229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1B4F72"/>
                </a:solidFill>
                <a:latin typeface="Poppins Medium"/>
              </a:rPr>
              <a:t>Always free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3355848"/>
            <a:ext cx="3154680" cy="67665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Non-medical home workers — housekeepers, helpers, delivery staff. Log their daily visits so the whole care team stays in the picture. No access to clinical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087368"/>
            <a:ext cx="315468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1B4F72"/>
                </a:solidFill>
                <a:latin typeface="Poppins Medium"/>
              </a:rPr>
              <a:t>Daily activity log  |  Flux only  |  No medical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6007" y="2898648"/>
            <a:ext cx="41605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36007" y="2898648"/>
            <a:ext cx="749808" cy="150876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7" y="2898648"/>
            <a:ext cx="749808" cy="150876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Poppins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0407" y="3026664"/>
            <a:ext cx="233172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Guardian / Curator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6407" y="3026664"/>
            <a:ext cx="822960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/>
            <a:r>
              <a:rPr b="0" i="0" sz="900">
                <a:solidFill>
                  <a:srgbClr val="7B1535"/>
                </a:solidFill>
                <a:latin typeface="Poppins Medium"/>
              </a:rPr>
              <a:t>Tiered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7" y="3355848"/>
            <a:ext cx="3154680" cy="67665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Legal guardians and professional curators managing several patients at once. A consolidated dashboard across all their cases — with a subscription that scales with caseload.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0407" y="4087368"/>
            <a:ext cx="315468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7B1535"/>
                </a:solidFill>
                <a:latin typeface="Poppins Medium"/>
              </a:rPr>
              <a:t>Multi-patient view  |  Tiered pricing  |  Full oversight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600">
                <a:solidFill>
                  <a:srgbClr val="590021"/>
                </a:solidFill>
                <a:latin typeface="Poppins"/>
              </a:rPr>
              <a:t>Why Monaco is the right place to start.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64245"/>
                </a:solidFill>
                <a:latin typeface="Lato"/>
              </a:rPr>
              <a:t>Small enough to move fast. Structured enough in care. A population with real, daily care needs.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048256" cy="950976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2048256" cy="4572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89304"/>
            <a:ext cx="1865376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100">
                <a:solidFill>
                  <a:srgbClr val="590021"/>
                </a:solidFill>
                <a:latin typeface="Poppins"/>
              </a:rPr>
              <a:t>38,857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673352"/>
            <a:ext cx="1865376" cy="16459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700">
                <a:solidFill>
                  <a:srgbClr val="590021"/>
                </a:solidFill>
                <a:latin typeface="Poppins Medium"/>
              </a:rPr>
              <a:t>RESIDENTS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837944"/>
            <a:ext cx="1865376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564245"/>
                </a:solidFill>
                <a:latin typeface="Lato"/>
              </a:rPr>
              <a:t>Total population of the Principality,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3744" y="1234440"/>
            <a:ext cx="2048256" cy="950976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23744" y="1234440"/>
            <a:ext cx="2048256" cy="4572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289304"/>
            <a:ext cx="1865376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100">
                <a:solidFill>
                  <a:srgbClr val="7B1535"/>
                </a:solidFill>
                <a:latin typeface="Poppins"/>
              </a:rPr>
              <a:t>27.2%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1673352"/>
            <a:ext cx="1865376" cy="16459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700">
                <a:solidFill>
                  <a:srgbClr val="7B1535"/>
                </a:solidFill>
                <a:latin typeface="Poppins Medium"/>
              </a:rPr>
              <a:t>AGED 65+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1837944"/>
            <a:ext cx="1865376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564245"/>
                </a:solidFill>
                <a:latin typeface="Lato"/>
              </a:rPr>
              <a:t>10,574 residents — more than 1 in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1234440"/>
            <a:ext cx="2048256" cy="950976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81728" y="1234440"/>
            <a:ext cx="2048256" cy="45720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91456" y="1289304"/>
            <a:ext cx="1865376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100">
                <a:solidFill>
                  <a:srgbClr val="436653"/>
                </a:solidFill>
                <a:latin typeface="Poppins"/>
              </a:rPr>
              <a:t>14.9%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1673352"/>
            <a:ext cx="1865376" cy="16459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700">
                <a:solidFill>
                  <a:srgbClr val="436653"/>
                </a:solidFill>
                <a:latin typeface="Poppins Medium"/>
              </a:rPr>
              <a:t>AGED 75+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1837944"/>
            <a:ext cx="1865376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564245"/>
                </a:solidFill>
                <a:latin typeface="Lato"/>
              </a:rPr>
              <a:t>5,798 residents relying on intensive home support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234440"/>
            <a:ext cx="2048256" cy="950976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9712" y="1234440"/>
            <a:ext cx="2048256" cy="457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1289304"/>
            <a:ext cx="1865376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100">
                <a:solidFill>
                  <a:srgbClr val="1B4F72"/>
                </a:solidFill>
                <a:latin typeface="Poppins"/>
              </a:rPr>
              <a:t>204,441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673352"/>
            <a:ext cx="1865376" cy="16459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700">
                <a:solidFill>
                  <a:srgbClr val="1B4F72"/>
                </a:solidFill>
                <a:latin typeface="Poppins Medium"/>
              </a:rPr>
              <a:t>EXTENDED BASIN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837944"/>
            <a:ext cx="1865376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00">
                <a:solidFill>
                  <a:srgbClr val="564245"/>
                </a:solidFill>
                <a:latin typeface="Lato"/>
              </a:rPr>
              <a:t>People 65+ in surrounding municipalities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59152"/>
            <a:ext cx="4142232" cy="230428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359152"/>
            <a:ext cx="4142232" cy="4572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459736"/>
            <a:ext cx="3822192" cy="27432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100">
                <a:solidFill>
                  <a:srgbClr val="590021"/>
                </a:solidFill>
                <a:latin typeface="Poppins"/>
              </a:rPr>
              <a:t>A structured care ecosystem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79776"/>
            <a:ext cx="3794760" cy="43891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950">
                <a:solidFill>
                  <a:srgbClr val="564245"/>
                </a:solidFill>
                <a:latin typeface="Lato"/>
              </a:rPr>
              <a:t>Monaco already has the professionals and the infrastructure. What is missing is a coordination layer connecting them.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3410712"/>
            <a:ext cx="64008" cy="64008"/>
          </a:xfrm>
          <a:prstGeom prst="ellipse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3685032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845 beds &amp; places at CHPG — 443 in geriatric &amp; home care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3721608"/>
            <a:ext cx="64008" cy="64008"/>
          </a:xfrm>
          <a:prstGeom prst="ellipse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675888"/>
            <a:ext cx="3685032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4,168 private-sector employees in health &amp; social services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4032504"/>
            <a:ext cx="64008" cy="64008"/>
          </a:xfrm>
          <a:prstGeom prst="ellipse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3986784"/>
            <a:ext cx="3685032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IFAS nursing aide training — dedicated local pipeline</a:t>
            </a:r>
          </a:p>
        </p:txBody>
      </p:sp>
      <p:sp>
        <p:nvSpPr>
          <p:cNvPr id="36" name="Oval 35"/>
          <p:cNvSpPr/>
          <p:nvPr/>
        </p:nvSpPr>
        <p:spPr>
          <a:xfrm>
            <a:off x="548640" y="4343400"/>
            <a:ext cx="64008" cy="64008"/>
          </a:xfrm>
          <a:prstGeom prst="ellipse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297680"/>
            <a:ext cx="3685032" cy="2560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CCIN / Loi n.1165 — independent data protection authority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43983"/>
            <a:ext cx="3822192" cy="18288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700">
                <a:solidFill>
                  <a:srgbClr val="897174"/>
                </a:solidFill>
                <a:latin typeface="Lato"/>
              </a:rPr>
              <a:t>Sources: CHPG (chpg.mc) / IMSEE Emploi 2025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8" y="2359152"/>
            <a:ext cx="4142232" cy="230428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6008" y="2359152"/>
            <a:ext cx="4142232" cy="45720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18888" y="2459736"/>
            <a:ext cx="3822192" cy="27432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100">
                <a:solidFill>
                  <a:srgbClr val="590021"/>
                </a:solidFill>
                <a:latin typeface="Poppins"/>
              </a:rPr>
              <a:t>A population built for long-term care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8888" y="2779776"/>
            <a:ext cx="3794760" cy="43891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950">
                <a:solidFill>
                  <a:srgbClr val="564245"/>
                </a:solidFill>
                <a:latin typeface="Lato"/>
              </a:rPr>
              <a:t>High life expectancy, engaged families, and a culture of quality care. Home-based support is central to how care is delivered in Monaco.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18888" y="3291840"/>
            <a:ext cx="3776472" cy="548640"/>
          </a:xfrm>
          <a:prstGeom prst="rect">
            <a:avLst/>
          </a:prstGeom>
          <a:solidFill>
            <a:srgbClr val="F7F2F3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28616" y="3346704"/>
            <a:ext cx="1554480" cy="32918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800">
                <a:solidFill>
                  <a:srgbClr val="436653"/>
                </a:solidFill>
                <a:latin typeface="Poppins"/>
              </a:rPr>
              <a:t>87.0 years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6248" y="3346704"/>
            <a:ext cx="2039112" cy="18288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50">
                <a:solidFill>
                  <a:srgbClr val="590021"/>
                </a:solidFill>
                <a:latin typeface="Poppins Medium"/>
              </a:rPr>
              <a:t>Life expectancy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3511296"/>
            <a:ext cx="2039112" cy="18288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850">
                <a:solidFill>
                  <a:srgbClr val="590021"/>
                </a:solidFill>
                <a:latin typeface="Poppins Medium"/>
              </a:rPr>
              <a:t>Monegasque nationals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3675887"/>
            <a:ext cx="2039112" cy="16459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750">
                <a:solidFill>
                  <a:srgbClr val="564245"/>
                </a:solidFill>
                <a:latin typeface="Lato"/>
              </a:rPr>
              <a:t>Men 84.0  /  Women 90.2  (2022–2024)</a:t>
            </a:r>
          </a:p>
        </p:txBody>
      </p:sp>
      <p:sp>
        <p:nvSpPr>
          <p:cNvPr id="48" name="Oval 47"/>
          <p:cNvSpPr/>
          <p:nvPr/>
        </p:nvSpPr>
        <p:spPr>
          <a:xfrm>
            <a:off x="4818888" y="4014215"/>
            <a:ext cx="64008" cy="64008"/>
          </a:xfrm>
          <a:prstGeom prst="ellipse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5192" y="3968496"/>
            <a:ext cx="3685032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Average age of Monegasque nationals: 45.1 years</a:t>
            </a:r>
          </a:p>
        </p:txBody>
      </p:sp>
      <p:sp>
        <p:nvSpPr>
          <p:cNvPr id="50" name="Oval 49"/>
          <p:cNvSpPr/>
          <p:nvPr/>
        </p:nvSpPr>
        <p:spPr>
          <a:xfrm>
            <a:off x="4818888" y="4288536"/>
            <a:ext cx="64008" cy="64008"/>
          </a:xfrm>
          <a:prstGeom prst="ellipse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65192" y="4242816"/>
            <a:ext cx="3685032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Over 15% of Monegasque nationals are 75 or older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18888" y="4498848"/>
            <a:ext cx="3822192" cy="16459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700">
                <a:solidFill>
                  <a:srgbClr val="897174"/>
                </a:solidFill>
                <a:latin typeface="Lato"/>
              </a:rPr>
              <a:t>Source: IMSEE Observatoire 2024 — data concern Monegasque nationals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4882896"/>
            <a:ext cx="8412480" cy="18288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750">
                <a:solidFill>
                  <a:srgbClr val="897174"/>
                </a:solidFill>
                <a:latin typeface="Lato"/>
              </a:rPr>
              <a:t>Population &amp; basin data: IMSEE Monaco en Chiffres 2025  /  imsee.mc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600">
                <a:solidFill>
                  <a:srgbClr val="590021"/>
                </a:solidFill>
                <a:latin typeface="Poppins"/>
              </a:rPr>
              <a:t>A grounded, step-by-step launch.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64245"/>
                </a:solidFill>
                <a:latin typeface="Lato"/>
              </a:rPr>
              <a:t>Starting with the people who already know the patients — and trust the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697480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697480" cy="54864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1207" y="1417320"/>
            <a:ext cx="438912" cy="438912"/>
          </a:xfrm>
          <a:prstGeom prst="ellipse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417320"/>
            <a:ext cx="438912" cy="43891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80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039112"/>
            <a:ext cx="2423160" cy="43891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The professional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551176"/>
            <a:ext cx="242316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1C1B1C"/>
                </a:solidFill>
                <a:latin typeface="Lato Semibold"/>
              </a:rPr>
              <a:t>The founder’s local network — physios, nurses, doctors and curators — is the natural first entry 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" y="3264408"/>
            <a:ext cx="2368296" cy="27432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3355848"/>
            <a:ext cx="2423160" cy="128016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They already work with vulnerable patients and their families. They will be the first users of the platform — and the first to recommend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2968" y="1234440"/>
            <a:ext cx="2697480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72968" y="1234440"/>
            <a:ext cx="2697480" cy="54864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74136" y="1417320"/>
            <a:ext cx="438912" cy="438912"/>
          </a:xfrm>
          <a:prstGeom prst="ellipse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4136" y="1417320"/>
            <a:ext cx="438912" cy="43891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80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2039112"/>
            <a:ext cx="2423160" cy="43891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The curators &amp; guardians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51176"/>
            <a:ext cx="242316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1C1B1C"/>
                </a:solidFill>
                <a:latin typeface="Lato Semibold"/>
              </a:rPr>
              <a:t>Professional curators manage multiple patients at once. They have an immediate, practical need for a structured tool.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3264408"/>
            <a:ext cx="2368296" cy="27432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355848"/>
            <a:ext cx="2423160" cy="128016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They are natural early adopters and multipliers. Each curator brings several care situations onto the platform.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25896" y="1234440"/>
            <a:ext cx="2697480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25896" y="1234440"/>
            <a:ext cx="269748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27064" y="1417320"/>
            <a:ext cx="438912" cy="438912"/>
          </a:xfrm>
          <a:prstGeom prst="ellipse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7064" y="1417320"/>
            <a:ext cx="438912" cy="43891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80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2039112"/>
            <a:ext cx="2423160" cy="43891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590021"/>
                </a:solidFill>
                <a:latin typeface="Poppins"/>
              </a:rPr>
              <a:t>The families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2551176"/>
            <a:ext cx="242316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1C1B1C"/>
                </a:solidFill>
                <a:latin typeface="Lato Semibold"/>
              </a:rPr>
              <a:t>Once a professional introduces MONACARE, the family receives a simple access code. No sales process required.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0488" y="3264408"/>
            <a:ext cx="2368296" cy="2743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3355848"/>
            <a:ext cx="2423160" cy="128016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564245"/>
                </a:solidFill>
                <a:latin typeface="Lato"/>
              </a:rPr>
              <a:t>No technical friction. Just an invitation to stay informed — and a clear reason to subscribe.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F7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4818888"/>
            <a:ext cx="9144000" cy="27432"/>
          </a:xfrm>
          <a:prstGeom prst="rect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837176"/>
            <a:ext cx="8229600" cy="27432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/>
            <a:r>
              <a:rPr b="0" i="0" sz="1050">
                <a:solidFill>
                  <a:srgbClr val="590021"/>
                </a:solidFill>
                <a:latin typeface="Poppins Medium"/>
              </a:rPr>
              <a:t>Monaco first — then a selective extension to the French Riviera: Nice, Cannes, Antibes.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6583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600">
                <a:solidFill>
                  <a:srgbClr val="590021"/>
                </a:solidFill>
                <a:latin typeface="Poppins"/>
              </a:rPr>
              <a:t>A simple, considered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100">
                <a:solidFill>
                  <a:srgbClr val="564245"/>
                </a:solidFill>
                <a:latin typeface="Lato"/>
              </a:rPr>
              <a:t>Free for professionals. Accessible for families. Scalable for curators.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411480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4114800" cy="54864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99032"/>
            <a:ext cx="3703320" cy="32918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400">
                <a:solidFill>
                  <a:srgbClr val="590021"/>
                </a:solidFill>
                <a:latin typeface="Poppins"/>
              </a:rPr>
              <a:t>Family Subscription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64792"/>
            <a:ext cx="370332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1000">
                <a:solidFill>
                  <a:srgbClr val="564245"/>
                </a:solidFill>
                <a:latin typeface="Lato"/>
              </a:rPr>
              <a:t>Paid by the family — professionals are always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67128"/>
            <a:ext cx="3749039" cy="658368"/>
          </a:xfrm>
          <a:prstGeom prst="rect">
            <a:avLst/>
          </a:prstGeom>
          <a:solidFill>
            <a:srgbClr val="590021"/>
          </a:solidFill>
          <a:ln w="6350">
            <a:solidFill>
              <a:srgbClr val="5900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50008"/>
            <a:ext cx="201168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  <a:latin typeface="Poppins"/>
              </a:rPr>
              <a:t>1 patient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2295144"/>
            <a:ext cx="1207008" cy="40233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/>
            <a:r>
              <a:rPr b="1" i="0" sz="1500">
                <a:solidFill>
                  <a:srgbClr val="DCC0C3"/>
                </a:solidFill>
                <a:latin typeface="Poppins"/>
              </a:rPr>
              <a:t>EUR29 / month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3749039" cy="658368"/>
          </a:xfrm>
          <a:prstGeom prst="rect">
            <a:avLst/>
          </a:prstGeom>
          <a:solidFill>
            <a:srgbClr val="F7F2F3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154680"/>
            <a:ext cx="201168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1C1B1C"/>
                </a:solidFill>
                <a:latin typeface="Poppins"/>
              </a:rPr>
              <a:t>Additional patient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3099816"/>
            <a:ext cx="1207008" cy="40233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/>
            <a:r>
              <a:rPr b="1" i="0" sz="1500">
                <a:solidFill>
                  <a:srgbClr val="7B1535"/>
                </a:solidFill>
                <a:latin typeface="Poppins"/>
              </a:rPr>
              <a:t>+ EUR15 /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04487"/>
            <a:ext cx="3749039" cy="548640"/>
          </a:xfrm>
          <a:prstGeom prst="rect">
            <a:avLst/>
          </a:prstGeom>
          <a:solidFill>
            <a:srgbClr val="F7F2F3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04487"/>
            <a:ext cx="45720" cy="5486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950207"/>
            <a:ext cx="2377440" cy="21945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000">
                <a:solidFill>
                  <a:srgbClr val="1C1B1C"/>
                </a:solidFill>
                <a:latin typeface="Lato"/>
              </a:rPr>
              <a:t>Healthcare professionals &amp; companions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178807"/>
            <a:ext cx="2194560" cy="20116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564245"/>
                </a:solidFill>
                <a:latin typeface="Lato"/>
              </a:rPr>
              <a:t>Always free — unlimited per patient.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4014215"/>
            <a:ext cx="777240" cy="32918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1" i="0" sz="1500">
                <a:solidFill>
                  <a:srgbClr val="1B4F72"/>
                </a:solidFill>
                <a:latin typeface="Poppins"/>
              </a:rPr>
              <a:t>FREE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234440"/>
            <a:ext cx="411480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4880" y="1234440"/>
            <a:ext cx="4114800" cy="54864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1399032"/>
            <a:ext cx="3703320" cy="32918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400">
                <a:solidFill>
                  <a:srgbClr val="590021"/>
                </a:solidFill>
                <a:latin typeface="Poppins"/>
              </a:rPr>
              <a:t>Guardian / Curator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1764792"/>
            <a:ext cx="3703320" cy="23774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1000">
                <a:solidFill>
                  <a:srgbClr val="564245"/>
                </a:solidFill>
                <a:latin typeface="Lato"/>
              </a:rPr>
              <a:t>Sliding scale — all care professionals included free.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2167128"/>
            <a:ext cx="3749039" cy="658368"/>
          </a:xfrm>
          <a:prstGeom prst="rect">
            <a:avLst/>
          </a:prstGeom>
          <a:solidFill>
            <a:srgbClr val="F7F2F3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02352" y="2350008"/>
            <a:ext cx="201168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1C1B1C"/>
                </a:solidFill>
                <a:latin typeface="Poppins"/>
              </a:rPr>
              <a:t>Up to 10 patients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2295144"/>
            <a:ext cx="1207008" cy="40233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/>
            <a:r>
              <a:rPr b="1" i="0" sz="1500">
                <a:solidFill>
                  <a:srgbClr val="7B1535"/>
                </a:solidFill>
                <a:latin typeface="Poppins"/>
              </a:rPr>
              <a:t>EUR250 /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0" y="2971800"/>
            <a:ext cx="3749039" cy="658368"/>
          </a:xfrm>
          <a:prstGeom prst="rect">
            <a:avLst/>
          </a:prstGeom>
          <a:solidFill>
            <a:srgbClr val="590021"/>
          </a:solidFill>
          <a:ln w="6350">
            <a:solidFill>
              <a:srgbClr val="5900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37760" y="2971800"/>
            <a:ext cx="54864" cy="658368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352" y="3154680"/>
            <a:ext cx="201168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  <a:latin typeface="Poppins"/>
              </a:rPr>
              <a:t>Up to 30 patients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099816"/>
            <a:ext cx="1207008" cy="40233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/>
            <a:r>
              <a:rPr b="1" i="0" sz="1500">
                <a:solidFill>
                  <a:srgbClr val="DCC0C3"/>
                </a:solidFill>
                <a:latin typeface="Poppins"/>
              </a:rPr>
              <a:t>EUR399 / month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3776472"/>
            <a:ext cx="3749039" cy="658368"/>
          </a:xfrm>
          <a:prstGeom prst="rect">
            <a:avLst/>
          </a:prstGeom>
          <a:solidFill>
            <a:srgbClr val="F7F2F3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3959352"/>
            <a:ext cx="201168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200">
                <a:solidFill>
                  <a:srgbClr val="1C1B1C"/>
                </a:solidFill>
                <a:latin typeface="Poppins"/>
              </a:rPr>
              <a:t>40+ patients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6912" y="3904487"/>
            <a:ext cx="1207008" cy="40233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/>
            <a:r>
              <a:rPr b="1" i="0" sz="1500">
                <a:solidFill>
                  <a:srgbClr val="7B1535"/>
                </a:solidFill>
                <a:latin typeface="Poppins"/>
              </a:rPr>
              <a:t>Custom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389120"/>
            <a:ext cx="3749039" cy="34747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1" sz="900">
                <a:solidFill>
                  <a:srgbClr val="564245"/>
                </a:solidFill>
                <a:latin typeface="Lato"/>
              </a:rPr>
              <a:t>Revenue grows with each patient added to the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90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0" y="-91440"/>
            <a:ext cx="2926080" cy="164592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3931920"/>
            <a:ext cx="1645920" cy="1645920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94360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000">
                <a:solidFill>
                  <a:srgbClr val="DCC0C3"/>
                </a:solidFill>
                <a:latin typeface="Poppins Medium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6400800" cy="1005840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2700">
                <a:solidFill>
                  <a:srgbClr val="FFFFFF"/>
                </a:solidFill>
                <a:latin typeface="Poppins"/>
              </a:rPr>
              <a:t>Building the standard</a:t>
            </a:r>
          </a:p>
          <a:p>
            <a:pPr algn="l"/>
            <a:r>
              <a:rPr b="1" i="0" sz="2700">
                <a:solidFill>
                  <a:srgbClr val="FFFFFF"/>
                </a:solidFill>
                <a:latin typeface="Poppins"/>
              </a:rPr>
              <a:t>for coordinated home care.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5486400" cy="310896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1200">
                <a:solidFill>
                  <a:srgbClr val="DCC0C3"/>
                </a:solidFill>
                <a:latin typeface="Lato"/>
              </a:rPr>
              <a:t>Starting in Monaco. Designed to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438912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100">
                <a:solidFill>
                  <a:srgbClr val="FFFFFF"/>
                </a:solidFill>
                <a:latin typeface="Poppins"/>
              </a:rPr>
              <a:t>Where we are going: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23744"/>
            <a:ext cx="960120" cy="237744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523744"/>
            <a:ext cx="923544" cy="23774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  <a:latin typeface="Poppins Medium"/>
              </a:rPr>
              <a:t>Monaco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2505456"/>
            <a:ext cx="3383280" cy="42062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DCC0C3"/>
                </a:solidFill>
                <a:latin typeface="Lato"/>
              </a:rPr>
              <a:t>The platform becomes the standard coordination tool across Monaco’s home care network.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45536"/>
            <a:ext cx="960120" cy="237744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145536"/>
            <a:ext cx="923544" cy="23774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  <a:latin typeface="Poppins Medium"/>
              </a:rPr>
              <a:t>French Riviera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127248"/>
            <a:ext cx="3383280" cy="42062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DCC0C3"/>
                </a:solidFill>
                <a:latin typeface="Lato"/>
              </a:rPr>
              <a:t>A selective extension to Nice, Cannes and Antibes — same approach, the same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67328"/>
            <a:ext cx="960120" cy="237744"/>
          </a:xfrm>
          <a:prstGeom prst="rect">
            <a:avLst/>
          </a:prstGeom>
          <a:solidFill>
            <a:srgbClr val="7B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767328"/>
            <a:ext cx="923544" cy="23774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  <a:latin typeface="Poppins Medium"/>
              </a:rPr>
              <a:t>Long 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3749040"/>
            <a:ext cx="3383280" cy="420624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50">
                <a:solidFill>
                  <a:srgbClr val="DCC0C3"/>
                </a:solidFill>
                <a:latin typeface="Lato"/>
              </a:rPr>
              <a:t>A reference model for cities with high care needs across Europe.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103120"/>
            <a:ext cx="3566160" cy="29260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1" i="0" sz="1100">
                <a:solidFill>
                  <a:srgbClr val="FFFFFF"/>
                </a:solidFill>
                <a:latin typeface="Poppins"/>
              </a:rPr>
              <a:t>Where we are now: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2523744"/>
            <a:ext cx="566928" cy="201168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0368" y="2523744"/>
            <a:ext cx="530352" cy="2011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800">
                <a:solidFill>
                  <a:srgbClr val="FFFFFF"/>
                </a:solidFill>
                <a:latin typeface="Poppins Medium"/>
              </a:rPr>
              <a:t>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505456"/>
            <a:ext cx="3017520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DCC0C3"/>
                </a:solidFill>
                <a:latin typeface="Lato"/>
              </a:rPr>
              <a:t>Working prototype, live on Vercel.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2980944"/>
            <a:ext cx="566928" cy="201168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80944"/>
            <a:ext cx="530352" cy="2011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800">
                <a:solidFill>
                  <a:srgbClr val="FFFFFF"/>
                </a:solidFill>
                <a:latin typeface="Poppins Medium"/>
              </a:rPr>
              <a:t>Ready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2962656"/>
            <a:ext cx="3017520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DCC0C3"/>
                </a:solidFill>
                <a:latin typeface="Lato"/>
              </a:rPr>
              <a:t>Firebase Auth + Firestore — real-time sync operational.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3438144"/>
            <a:ext cx="566928" cy="201168"/>
          </a:xfrm>
          <a:prstGeom prst="rect">
            <a:avLst/>
          </a:prstGeom>
          <a:solidFill>
            <a:srgbClr val="436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3438144"/>
            <a:ext cx="530352" cy="2011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800">
                <a:solidFill>
                  <a:srgbClr val="FFFFFF"/>
                </a:solidFill>
                <a:latin typeface="Poppins Medium"/>
              </a:rPr>
              <a:t>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0448" y="3419856"/>
            <a:ext cx="3017520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DCC0C3"/>
                </a:solidFill>
                <a:latin typeface="Lato"/>
              </a:rPr>
              <a:t>Role-based access, Medical Vault and Flux all functional.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0" y="3895344"/>
            <a:ext cx="566928" cy="201168"/>
          </a:xfrm>
          <a:prstGeom prst="rect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0368" y="3895344"/>
            <a:ext cx="530352" cy="2011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800">
                <a:solidFill>
                  <a:srgbClr val="FFFFFF"/>
                </a:solidFill>
                <a:latin typeface="Poppins Medium"/>
              </a:rPr>
              <a:t>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3877056"/>
            <a:ext cx="3017520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DCC0C3"/>
                </a:solidFill>
                <a:latin typeface="Lato"/>
              </a:rPr>
              <a:t>CCIN declaration and HDS-certified hosting: compliance step before launch.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12080" y="4352544"/>
            <a:ext cx="566928" cy="201168"/>
          </a:xfrm>
          <a:prstGeom prst="rect">
            <a:avLst/>
          </a:prstGeom>
          <a:solidFill>
            <a:srgbClr val="DCC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0368" y="4352544"/>
            <a:ext cx="530352" cy="2011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b="0" i="0" sz="800">
                <a:solidFill>
                  <a:srgbClr val="FFFFFF"/>
                </a:solidFill>
                <a:latin typeface="Poppins Medium"/>
              </a:rPr>
              <a:t>Next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0448" y="4334256"/>
            <a:ext cx="3017520" cy="38404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/>
            <a:r>
              <a:rPr b="0" i="0" sz="900">
                <a:solidFill>
                  <a:srgbClr val="DCC0C3"/>
                </a:solidFill>
                <a:latin typeface="Lato"/>
              </a:rPr>
              <a:t>iOS &amp; Android native apps: on the roadmap.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626864"/>
            <a:ext cx="8046720" cy="365760"/>
          </a:xfrm>
          <a:prstGeom prst="rect">
            <a:avLst/>
          </a:prstGeom>
          <a:solidFill>
            <a:srgbClr val="7B1535"/>
          </a:solidFill>
          <a:ln w="6350">
            <a:solidFill>
              <a:srgbClr val="DCC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626864"/>
            <a:ext cx="8046720" cy="36576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b="0" i="0" sz="950">
                <a:solidFill>
                  <a:srgbClr val="FFFFFF"/>
                </a:solidFill>
                <a:latin typeface="Lato"/>
              </a:rPr>
              <a:t>monacare.mc  /  contact@monacare.mc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