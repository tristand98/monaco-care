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Light" panose="00000400000000000000" pitchFamily="2" charset="0"/>
      <p:regular r:id="rId22"/>
      <p:bold r:id="rId23"/>
      <p:italic r:id="rId24"/>
      <p:boldItalic r:id="rId25"/>
    </p:embeddedFont>
    <p:embeddedFont>
      <p:font typeface="Poppins Medium" panose="000006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7junSP3iodc2msqRwVIkKbOJL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10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217920" y="-91440"/>
            <a:ext cx="3200400" cy="182880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-91440" y="3840480"/>
            <a:ext cx="1828800" cy="164592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" title="MONACARE logo transpar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94760" y="502920"/>
            <a:ext cx="1554481" cy="155448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MONACARE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914400" y="2880360"/>
            <a:ext cx="7315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Home care coordination — built </a:t>
            </a:r>
            <a:r>
              <a:rPr lang="en-US" sz="1500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around</a:t>
            </a:r>
            <a:r>
              <a:rPr lang="en-US" sz="1500" b="0" i="0" u="none" strike="noStrike" cap="none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 patient, the care team and the family.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3474720" y="3401568"/>
            <a:ext cx="2194560" cy="27432"/>
          </a:xfrm>
          <a:prstGeom prst="rect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4663440"/>
            <a:ext cx="82296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Tristan Doucet</a:t>
            </a:r>
            <a:r>
              <a:rPr lang="en-US" sz="900" b="0" i="0" u="none" strike="noStrike" cap="none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– Physiotherapist in Monaco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Monaco, April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64008"/>
            <a:ext cx="4114800" cy="5079492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411480" y="292608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PROJECT BUILT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FROM THE FIELD.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411480" y="1719072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Not a concept from a whiteboard — an observation from daily practice.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11480" y="2359152"/>
            <a:ext cx="3291840" cy="2743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11480" y="2487168"/>
            <a:ext cx="356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The founder of MONACARE is a physiotherapist practicing in Monaco. Every day, he helps coordinating care around vulnerable patients alongside nurses, doctors, home companions and legal </a:t>
            </a:r>
            <a:r>
              <a:rPr lang="en-US" sz="1050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guardians</a:t>
            </a:r>
            <a:r>
              <a:rPr lang="en-US" sz="1050" b="0" i="0" u="none" strike="noStrike" cap="none" dirty="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411480" y="3584448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DCC0C3"/>
                </a:solidFill>
                <a:latin typeface="Poppins"/>
                <a:ea typeface="Poppins"/>
                <a:cs typeface="Poppins"/>
                <a:sym typeface="Poppins"/>
              </a:rPr>
              <a:t>He knows the system from the inside — and he knows precisely what is missing.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4389120" y="201168"/>
            <a:ext cx="45264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90021"/>
                </a:solidFill>
                <a:latin typeface="Lato"/>
                <a:ea typeface="Lato"/>
                <a:cs typeface="Lato"/>
                <a:sym typeface="Lato"/>
              </a:rPr>
              <a:t>What he kept </a:t>
            </a:r>
            <a:r>
              <a:rPr lang="en-US" sz="1100">
                <a:solidFill>
                  <a:srgbClr val="590021"/>
                </a:solidFill>
                <a:latin typeface="Lato"/>
                <a:ea typeface="Lato"/>
                <a:cs typeface="Lato"/>
                <a:sym typeface="Lato"/>
              </a:rPr>
              <a:t>seeing in practice </a:t>
            </a:r>
            <a:r>
              <a:rPr lang="en-US" sz="1100" b="0" i="0" u="none" strike="noStrike" cap="none">
                <a:solidFill>
                  <a:srgbClr val="59002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389120" y="621792"/>
            <a:ext cx="36576" cy="53035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4553712" y="62179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Families calling professionals directly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553712" y="896112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because no structured channel exists — and receiving incomplete answers.</a:t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389120" y="1426464"/>
            <a:ext cx="36576" cy="53035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4553712" y="142646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Updates shared by text message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4553712" y="1700784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or simply not shared at all. No one has the full picture.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389120" y="2231136"/>
            <a:ext cx="36576" cy="53035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4553712" y="223113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Every professional doing good work in isolation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4553712" y="2505456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without seeing what the others are doing around the same patient.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389120" y="3035808"/>
            <a:ext cx="36576" cy="53035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553712" y="3035808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Curators managing several cases at once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4553712" y="3310128"/>
            <a:ext cx="4343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with no consolidated tool — just spreadsheets and phone calls.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389120" y="3840480"/>
            <a:ext cx="36576" cy="53035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553712" y="3840480"/>
            <a:ext cx="4343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Observations and alerts disappearing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4553712" y="4114800"/>
            <a:ext cx="4343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into WhatsApp threads, notebooks and </a:t>
            </a: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informal handovers</a:t>
            </a: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. Nothing is tr</a:t>
            </a: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uly </a:t>
            </a: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traceable.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F7F2F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57200" y="164592"/>
            <a:ext cx="8229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When care is uncoordinated, everyone </a:t>
            </a:r>
            <a:r>
              <a:rPr lang="en-US" sz="2500" b="1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is affected</a:t>
            </a:r>
            <a:r>
              <a:rPr lang="en-US" sz="25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300"/>
          </a:p>
        </p:txBody>
      </p:sp>
      <p:sp>
        <p:nvSpPr>
          <p:cNvPr id="128" name="Google Shape;128;p3"/>
          <p:cNvSpPr txBox="1"/>
          <p:nvPr/>
        </p:nvSpPr>
        <p:spPr>
          <a:xfrm>
            <a:off x="457200" y="89611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Home care involves many professionals — but no shared space connects them.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320040" y="1298448"/>
            <a:ext cx="2697480" cy="3493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20040" y="1298448"/>
            <a:ext cx="2697480" cy="5486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21207" y="1481328"/>
            <a:ext cx="420624" cy="420624"/>
          </a:xfrm>
          <a:prstGeom prst="ellipse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21207" y="1481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484632" y="2084831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family is left in the dark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484632" y="2633472"/>
            <a:ext cx="24231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Families often do not know what happened during the nurse’s visit, whether the physio came, or what the doctor recommended.</a:t>
            </a:r>
            <a:endParaRPr sz="1000">
              <a:solidFill>
                <a:srgbClr val="56424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They call. They send messages. They worry. There is no structured way to keep them informed.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172968" y="1298448"/>
            <a:ext cx="2697480" cy="3493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3172968" y="1298448"/>
            <a:ext cx="2697480" cy="54864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374136" y="1481328"/>
            <a:ext cx="420624" cy="420624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3374136" y="1481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3337560" y="2084831"/>
            <a:ext cx="2423160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 dirty="0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team works in silos</a:t>
            </a:r>
            <a:endParaRPr dirty="0"/>
          </a:p>
        </p:txBody>
      </p:sp>
      <p:sp>
        <p:nvSpPr>
          <p:cNvPr id="140" name="Google Shape;140;p3"/>
          <p:cNvSpPr txBox="1"/>
          <p:nvPr/>
        </p:nvSpPr>
        <p:spPr>
          <a:xfrm>
            <a:off x="3337560" y="2633472"/>
            <a:ext cx="24231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A nurse, a physiotherapist, a companion and a doctor can all care for the same patient — without seeing what the others are doing.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No shared record. No shared channel. Just phone calls and informal coordination.</a:t>
            </a: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5642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025896" y="1298448"/>
            <a:ext cx="2697480" cy="3493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025896" y="1298448"/>
            <a:ext cx="2697480" cy="54864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227064" y="1481328"/>
            <a:ext cx="420624" cy="420624"/>
          </a:xfrm>
          <a:prstGeom prst="ellipse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6227064" y="14813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6190488" y="2084831"/>
            <a:ext cx="24231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Nothing is traceable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6190488" y="2633472"/>
            <a:ext cx="24231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Observations, alerts and recommendations exist — but too often disappear into WhatsApp threads, notebooks, or someone’s memory.</a:t>
            </a:r>
            <a:endParaRPr sz="1000">
              <a:solidFill>
                <a:srgbClr val="56424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000">
              <a:solidFill>
                <a:srgbClr val="564245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There is no reliable record of what was done, when, and by w</a:t>
            </a:r>
            <a:r>
              <a:rPr lang="en-US" sz="10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hom.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4" title="MONACARE logo transparen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20040"/>
            <a:ext cx="1188721" cy="118872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 txBox="1"/>
          <p:nvPr/>
        </p:nvSpPr>
        <p:spPr>
          <a:xfrm>
            <a:off x="411480" y="1627632"/>
            <a:ext cx="3749039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CC0C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solution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411480" y="1993392"/>
            <a:ext cx="3749039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MONACARE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411480" y="2633472"/>
            <a:ext cx="37491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A shared coordination space for everyone involved in a patient’s care — designed for the realities of home care.</a:t>
            </a:r>
            <a:endParaRPr sz="1200">
              <a:solidFill>
                <a:srgbClr val="DCC0C3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rgbClr val="DCC0C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" y="3474720"/>
            <a:ext cx="3291840" cy="2743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11480" y="3639312"/>
            <a:ext cx="82296" cy="82296"/>
          </a:xfrm>
          <a:prstGeom prst="ellipse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94360" y="35844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The family stays informed — without having to call anyone.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411480" y="4005072"/>
            <a:ext cx="82296" cy="82296"/>
          </a:xfrm>
          <a:prstGeom prst="ellipse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594360" y="39502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The care team shares updates in real time, across every intervention.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11480" y="4370832"/>
            <a:ext cx="82296" cy="82296"/>
          </a:xfrm>
          <a:prstGeom prst="ellipse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594360" y="4315968"/>
            <a:ext cx="356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Every observation is logged, traceable, and </a:t>
            </a:r>
            <a:r>
              <a:rPr lang="en-US" sz="10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available</a:t>
            </a:r>
            <a:r>
              <a:rPr lang="en-US" sz="10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when needed.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5029200" y="182880"/>
            <a:ext cx="3566160" cy="4754880"/>
          </a:xfrm>
          <a:prstGeom prst="rect">
            <a:avLst/>
          </a:prstGeom>
          <a:solidFill>
            <a:srgbClr val="1C1B1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4" title="Capture d’écran 2026-04-15 à 00.26.35.png"/>
          <p:cNvPicPr preferRelativeResize="0"/>
          <p:nvPr/>
        </p:nvPicPr>
        <p:blipFill rotWithShape="1">
          <a:blip r:embed="rId4">
            <a:alphaModFix/>
          </a:blip>
          <a:srcRect l="18571" t="8188" r="20679" b="8179"/>
          <a:stretch/>
        </p:blipFill>
        <p:spPr>
          <a:xfrm>
            <a:off x="5175504" y="329184"/>
            <a:ext cx="3273553" cy="446227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6400800" y="182880"/>
            <a:ext cx="822960" cy="182880"/>
          </a:xfrm>
          <a:prstGeom prst="rect">
            <a:avLst/>
          </a:prstGeom>
          <a:solidFill>
            <a:srgbClr val="1C1B1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F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How it works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Four functions — each solving a real coordination problem.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65760" y="1261872"/>
            <a:ext cx="4023360" cy="17556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65760" y="1499616"/>
            <a:ext cx="45720" cy="128016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585216" y="1380743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Flux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3200400" y="1380743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15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Shared care feed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585216" y="1755648"/>
            <a:ext cx="36758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Each professional logs what they observed or did.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Families see relevant updates.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Medical posts stay restricted to the clinical team. Everyone stays aligned — without a single phone call.</a:t>
            </a:r>
            <a:endParaRPr dirty="0"/>
          </a:p>
        </p:txBody>
      </p:sp>
      <p:sp>
        <p:nvSpPr>
          <p:cNvPr id="180" name="Google Shape;180;p5"/>
          <p:cNvSpPr/>
          <p:nvPr/>
        </p:nvSpPr>
        <p:spPr>
          <a:xfrm>
            <a:off x="4617720" y="1261872"/>
            <a:ext cx="4023360" cy="17556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17720" y="1499616"/>
            <a:ext cx="45720" cy="128016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4837176" y="1380743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Medical Vault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7452360" y="1380743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 patient record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837176" y="1755648"/>
            <a:ext cx="3675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1050" b="0" i="0" u="none" strike="noStrike" cap="none" dirty="0" err="1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centralised</a:t>
            </a: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, biometric-</a:t>
            </a:r>
            <a:r>
              <a:rPr lang="en-US" sz="1050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protected</a:t>
            </a: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 space for vital signs, pain tracking and clinical notes.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Voice dictation for busy professionals.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One reliable source of truth — accessible from any device.</a:t>
            </a:r>
            <a:endParaRPr dirty="0"/>
          </a:p>
        </p:txBody>
      </p:sp>
      <p:sp>
        <p:nvSpPr>
          <p:cNvPr id="185" name="Google Shape;185;p5"/>
          <p:cNvSpPr/>
          <p:nvPr/>
        </p:nvSpPr>
        <p:spPr>
          <a:xfrm>
            <a:off x="365760" y="3200400"/>
            <a:ext cx="4023360" cy="17556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65760" y="3438144"/>
            <a:ext cx="45720" cy="1280160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585216" y="331927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Role-Based Access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3200400" y="3319272"/>
            <a:ext cx="109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366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right view for each </a:t>
            </a:r>
            <a:r>
              <a:rPr lang="en-US" sz="900">
                <a:solidFill>
                  <a:srgbClr val="4366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user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85216" y="3694176"/>
            <a:ext cx="3675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Every user — family members, nurse, doctor, or aide — sees only what they </a:t>
            </a:r>
            <a:r>
              <a:rPr lang="en-US" sz="1050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need to see</a:t>
            </a: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No self-registration: each account is validated by a platform administrator before first access.</a:t>
            </a:r>
            <a:endParaRPr dirty="0"/>
          </a:p>
        </p:txBody>
      </p:sp>
      <p:sp>
        <p:nvSpPr>
          <p:cNvPr id="190" name="Google Shape;190;p5"/>
          <p:cNvSpPr/>
          <p:nvPr/>
        </p:nvSpPr>
        <p:spPr>
          <a:xfrm>
            <a:off x="4617720" y="3200400"/>
            <a:ext cx="4023360" cy="17556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617720" y="3438144"/>
            <a:ext cx="45720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4837176" y="3319272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Professional Messaging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7452360" y="3319272"/>
            <a:ext cx="1097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B4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clean channel for the teams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4837176" y="3694176"/>
            <a:ext cx="36758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Encrypted, structured messaging </a:t>
            </a:r>
            <a:r>
              <a:rPr lang="en-US" sz="1050" b="0" i="0" u="none" strike="noStrike" cap="none" dirty="0" err="1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organised</a:t>
            </a: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 around the patient.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No personal phones. No WhatsApp threads. A dedicated space for team communication.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B1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57200" y="13716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platform in practice</a:t>
            </a:r>
            <a:endParaRPr/>
          </a:p>
        </p:txBody>
      </p:sp>
      <p:sp>
        <p:nvSpPr>
          <p:cNvPr id="202" name="Google Shape;202;p6"/>
          <p:cNvSpPr txBox="1"/>
          <p:nvPr/>
        </p:nvSpPr>
        <p:spPr>
          <a:xfrm>
            <a:off x="457200" y="62179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Working prototype</a:t>
            </a:r>
            <a:r>
              <a:rPr lang="en-US" sz="1100" b="0" i="0" u="none" strike="noStrike" cap="none">
                <a:solidFill>
                  <a:srgbClr val="DCC0C3"/>
                </a:solidFill>
                <a:latin typeface="Poppins Light"/>
                <a:ea typeface="Poppins Light"/>
                <a:cs typeface="Poppins Light"/>
                <a:sym typeface="Poppins Light"/>
              </a:rPr>
              <a:t> available on web and mobile.</a:t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582929" y="841248"/>
            <a:ext cx="2331720" cy="3657600"/>
          </a:xfrm>
          <a:prstGeom prst="rect">
            <a:avLst/>
          </a:prstGeom>
          <a:solidFill>
            <a:srgbClr val="2E2E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6" title="Capture d’écran 2026-04-15 à 00.26.35.png"/>
          <p:cNvPicPr preferRelativeResize="0"/>
          <p:nvPr/>
        </p:nvPicPr>
        <p:blipFill rotWithShape="1">
          <a:blip r:embed="rId3">
            <a:alphaModFix/>
          </a:blip>
          <a:srcRect l="19385" r="19385"/>
          <a:stretch/>
        </p:blipFill>
        <p:spPr>
          <a:xfrm>
            <a:off x="674369" y="932688"/>
            <a:ext cx="2148842" cy="347472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6"/>
          <p:cNvSpPr txBox="1"/>
          <p:nvPr/>
        </p:nvSpPr>
        <p:spPr>
          <a:xfrm>
            <a:off x="537209" y="45354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Welcome &amp; Login</a:t>
            </a:r>
            <a:endParaRPr/>
          </a:p>
        </p:txBody>
      </p:sp>
      <p:sp>
        <p:nvSpPr>
          <p:cNvPr id="206" name="Google Shape;206;p6"/>
          <p:cNvSpPr txBox="1"/>
          <p:nvPr/>
        </p:nvSpPr>
        <p:spPr>
          <a:xfrm>
            <a:off x="537209" y="4828032"/>
            <a:ext cx="242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Role-based onboarding — each user </a:t>
            </a:r>
            <a:r>
              <a:rPr lang="en-US" sz="8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logs in</a:t>
            </a:r>
            <a:r>
              <a:rPr lang="en-US" sz="8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with the access level assigned </a:t>
            </a:r>
            <a:r>
              <a:rPr lang="en-US" sz="8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to them</a:t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406139" y="841248"/>
            <a:ext cx="2331720" cy="3657600"/>
          </a:xfrm>
          <a:prstGeom prst="rect">
            <a:avLst/>
          </a:prstGeom>
          <a:solidFill>
            <a:srgbClr val="2E2E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6" title="Capture d’écran 2026-03-31 à 23.11.08.png"/>
          <p:cNvPicPr preferRelativeResize="0"/>
          <p:nvPr/>
        </p:nvPicPr>
        <p:blipFill rotWithShape="1">
          <a:blip r:embed="rId4">
            <a:alphaModFix/>
          </a:blip>
          <a:srcRect l="-16791" r="-16791" b="17478"/>
          <a:stretch/>
        </p:blipFill>
        <p:spPr>
          <a:xfrm>
            <a:off x="3497579" y="932688"/>
            <a:ext cx="2148840" cy="347471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6"/>
          <p:cNvSpPr txBox="1"/>
          <p:nvPr/>
        </p:nvSpPr>
        <p:spPr>
          <a:xfrm>
            <a:off x="3360420" y="45354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Flux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3305813" y="4828025"/>
            <a:ext cx="2532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Real-time care feed — updates from nurses, physios, companions and family members in one place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229350" y="841248"/>
            <a:ext cx="2331720" cy="3657600"/>
          </a:xfrm>
          <a:prstGeom prst="rect">
            <a:avLst/>
          </a:prstGeom>
          <a:solidFill>
            <a:srgbClr val="2E2E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6" title="Capture d’écran 2026-03-31 à 23.12.01.png"/>
          <p:cNvPicPr preferRelativeResize="0"/>
          <p:nvPr/>
        </p:nvPicPr>
        <p:blipFill rotWithShape="1">
          <a:blip r:embed="rId5">
            <a:alphaModFix/>
          </a:blip>
          <a:srcRect l="-14683" r="-14683" b="38692"/>
          <a:stretch/>
        </p:blipFill>
        <p:spPr>
          <a:xfrm>
            <a:off x="6320790" y="932688"/>
            <a:ext cx="2148840" cy="347472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 txBox="1"/>
          <p:nvPr/>
        </p:nvSpPr>
        <p:spPr>
          <a:xfrm>
            <a:off x="6183629" y="45354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Medical Vault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6183629" y="4828032"/>
            <a:ext cx="2423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Biometric-</a:t>
            </a:r>
            <a:r>
              <a:rPr lang="en-US" sz="8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protected</a:t>
            </a:r>
            <a:r>
              <a:rPr lang="en-US" sz="8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patient record — vital signs, pain tracking and clinical dictation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One platform, four roles.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Each user gets exactly the access they need — no more, no less.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347472" y="1261872"/>
            <a:ext cx="416052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47472" y="1261872"/>
            <a:ext cx="749808" cy="1508760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347472" y="1261872"/>
            <a:ext cx="749808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1261872" y="1389888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Family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3547872" y="138988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366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From EUR29/mo</a:t>
            </a:r>
            <a:endParaRPr/>
          </a:p>
        </p:txBody>
      </p:sp>
      <p:sp>
        <p:nvSpPr>
          <p:cNvPr id="228" name="Google Shape;228;p7"/>
          <p:cNvSpPr txBox="1"/>
          <p:nvPr/>
        </p:nvSpPr>
        <p:spPr>
          <a:xfrm>
            <a:off x="1261872" y="1719072"/>
            <a:ext cx="3154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Receives a personal access code from the care team. Follows the patient’s updates, sees who visited and when, and can logs vital signs at home. No more calling around for news.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1261872" y="2450591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4366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Informed without asking  |  Home vital log  |  Approve access</a:t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4636007" y="1261872"/>
            <a:ext cx="416052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636007" y="1261872"/>
            <a:ext cx="749808" cy="150876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636007" y="1261872"/>
            <a:ext cx="749808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550407" y="1389888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Healthcare Professional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7836407" y="138988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Always free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5550407" y="1719072"/>
            <a:ext cx="31546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Nurses, doctors, physiotherapists. Account validated before first login. Posts updates to the Flux, consults the Medical Vault, uses voice dictation for clinical notes.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5550407" y="2450591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Full Flux + Vault  |  Voice dictation  |  Medical-only visibility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347472" y="2898648"/>
            <a:ext cx="416052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47472" y="2898648"/>
            <a:ext cx="749808" cy="150876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347472" y="2898648"/>
            <a:ext cx="749808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1261872" y="3026664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Companion / Aide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3547872" y="302666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B4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Always free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1261872" y="3355848"/>
            <a:ext cx="3154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Non-medical home workers — housekeepers, helpers, </a:t>
            </a:r>
            <a:r>
              <a:rPr lang="en-US" sz="95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etc</a:t>
            </a: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. Log their daily visits so the whole care team stays in the picture. No access to clinical data.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1261872" y="4087368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1B4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Daily activity log  |  Flux only  |  No medical data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636007" y="2898648"/>
            <a:ext cx="4160520" cy="1508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36007" y="2898648"/>
            <a:ext cx="749808" cy="150876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4636007" y="2898648"/>
            <a:ext cx="749808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5550407" y="3026664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Guardian / Curator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7836407" y="302666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7B15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Tiered plan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5550407" y="3355848"/>
            <a:ext cx="31548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Legal guardians and professional curators managing several patients at once. A consolidated dashboard across all their cases — with  </a:t>
            </a:r>
            <a:r>
              <a:rPr lang="en-US" sz="95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pricing</a:t>
            </a: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 that scales with caseload.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5550407" y="4087368"/>
            <a:ext cx="3154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7B15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Multi-patient view  |  Tiered pricing  |  Full oversight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2F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457200" y="164592"/>
            <a:ext cx="82296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Why Monaco is the right place </a:t>
            </a:r>
            <a:r>
              <a:rPr lang="en-US" sz="26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to start?</a:t>
            </a:r>
            <a:endParaRPr dirty="0"/>
          </a:p>
        </p:txBody>
      </p:sp>
      <p:sp>
        <p:nvSpPr>
          <p:cNvPr id="258" name="Google Shape;258;p8"/>
          <p:cNvSpPr txBox="1"/>
          <p:nvPr/>
        </p:nvSpPr>
        <p:spPr>
          <a:xfrm>
            <a:off x="457200" y="896112"/>
            <a:ext cx="82296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Small enough to move fast. Structured enough </a:t>
            </a:r>
            <a:r>
              <a:rPr lang="en-US" sz="110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to support it</a:t>
            </a: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. A population with real, daily care needs.</a:t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365760" y="1234440"/>
            <a:ext cx="2048256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65760" y="1234440"/>
            <a:ext cx="2048256" cy="4572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75488" y="1289304"/>
            <a:ext cx="186537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38,857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475488" y="1673352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RESIDENTS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475488" y="183794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Total population of the Principality, 2025</a:t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2523744" y="1234440"/>
            <a:ext cx="2048256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2523744" y="1234440"/>
            <a:ext cx="2048256" cy="4572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2633472" y="1289304"/>
            <a:ext cx="186537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7B1535"/>
                </a:solidFill>
                <a:latin typeface="Poppins"/>
                <a:ea typeface="Poppins"/>
                <a:cs typeface="Poppins"/>
                <a:sym typeface="Poppins"/>
              </a:rPr>
              <a:t>27.2%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2633472" y="1673352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7B15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AGED 65+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2633472" y="1837944"/>
            <a:ext cx="186537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10,574 residents — more than 1 in 4</a:t>
            </a:r>
            <a:endParaRPr dirty="0"/>
          </a:p>
        </p:txBody>
      </p:sp>
      <p:sp>
        <p:nvSpPr>
          <p:cNvPr id="269" name="Google Shape;269;p8"/>
          <p:cNvSpPr/>
          <p:nvPr/>
        </p:nvSpPr>
        <p:spPr>
          <a:xfrm>
            <a:off x="4681728" y="1234440"/>
            <a:ext cx="2048256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681728" y="1234440"/>
            <a:ext cx="2048256" cy="45720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4791456" y="1289304"/>
            <a:ext cx="186537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36653"/>
                </a:solidFill>
                <a:latin typeface="Poppins"/>
                <a:ea typeface="Poppins"/>
                <a:cs typeface="Poppins"/>
                <a:sym typeface="Poppins"/>
              </a:rPr>
              <a:t>14.9%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4791456" y="1673352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4366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AGED 75+</a:t>
            </a:r>
            <a:endParaRPr/>
          </a:p>
        </p:txBody>
      </p:sp>
      <p:sp>
        <p:nvSpPr>
          <p:cNvPr id="273" name="Google Shape;273;p8"/>
          <p:cNvSpPr txBox="1"/>
          <p:nvPr/>
        </p:nvSpPr>
        <p:spPr>
          <a:xfrm>
            <a:off x="4791456" y="1837944"/>
            <a:ext cx="1865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5,798 residents </a:t>
            </a:r>
            <a:r>
              <a:rPr lang="en-US" sz="800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more likely to require coordinated</a:t>
            </a:r>
            <a:r>
              <a:rPr lang="en-US" sz="800" b="0" i="0" u="none" strike="noStrike" cap="none" dirty="0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 home support</a:t>
            </a:r>
            <a:endParaRPr dirty="0"/>
          </a:p>
        </p:txBody>
      </p:sp>
      <p:sp>
        <p:nvSpPr>
          <p:cNvPr id="274" name="Google Shape;274;p8"/>
          <p:cNvSpPr/>
          <p:nvPr/>
        </p:nvSpPr>
        <p:spPr>
          <a:xfrm>
            <a:off x="6839712" y="1234440"/>
            <a:ext cx="2048256" cy="9509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839712" y="1234440"/>
            <a:ext cx="2048256" cy="4572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6949440" y="1289304"/>
            <a:ext cx="186537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4F72"/>
                </a:solidFill>
                <a:latin typeface="Poppins"/>
                <a:ea typeface="Poppins"/>
                <a:cs typeface="Poppins"/>
                <a:sym typeface="Poppins"/>
              </a:rPr>
              <a:t>204,441</a:t>
            </a:r>
            <a:endParaRPr/>
          </a:p>
        </p:txBody>
      </p:sp>
      <p:sp>
        <p:nvSpPr>
          <p:cNvPr id="277" name="Google Shape;277;p8"/>
          <p:cNvSpPr txBox="1"/>
          <p:nvPr/>
        </p:nvSpPr>
        <p:spPr>
          <a:xfrm>
            <a:off x="6949440" y="1673352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1B4F7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EXTENDED BASIN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6949440" y="1837944"/>
            <a:ext cx="186537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People 65+ in surrounding municipalities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365760" y="2359152"/>
            <a:ext cx="4142232" cy="23042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365760" y="2359152"/>
            <a:ext cx="4142232" cy="4572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548640" y="2459736"/>
            <a:ext cx="38221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A structured care ecosystem</a:t>
            </a:r>
            <a:endParaRPr/>
          </a:p>
        </p:txBody>
      </p:sp>
      <p:sp>
        <p:nvSpPr>
          <p:cNvPr id="282" name="Google Shape;282;p8"/>
          <p:cNvSpPr txBox="1"/>
          <p:nvPr/>
        </p:nvSpPr>
        <p:spPr>
          <a:xfrm>
            <a:off x="548640" y="2779776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Monaco already has the professionals and the infrastructure. What is missing is a coordination layer that connect</a:t>
            </a:r>
            <a:r>
              <a:rPr lang="en-US" sz="950" i="1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95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 them.</a:t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548640" y="3410712"/>
            <a:ext cx="64008" cy="64008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 txBox="1"/>
          <p:nvPr/>
        </p:nvSpPr>
        <p:spPr>
          <a:xfrm>
            <a:off x="685800" y="3364992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845 beds &amp; places at CHPG — 443 in geriatric &amp; home care</a:t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548640" y="3721608"/>
            <a:ext cx="64008" cy="64008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685800" y="36758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4,168 private-sector employees in health &amp; social services</a:t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548640" y="4032504"/>
            <a:ext cx="64008" cy="64008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685800" y="3986784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IFAS nursing aide training — dedicated local pipeline</a:t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548640" y="4343400"/>
            <a:ext cx="64008" cy="64008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685800" y="4297680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CCIN / Loi n.1165 — independent data protection authority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548640" y="4443983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897174"/>
                </a:solidFill>
                <a:latin typeface="Lato"/>
                <a:ea typeface="Lato"/>
                <a:cs typeface="Lato"/>
                <a:sym typeface="Lato"/>
              </a:rPr>
              <a:t>Sources: CHPG (chpg.mc) / IMSEE Emploi 2025</a:t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636008" y="2359152"/>
            <a:ext cx="4142232" cy="23042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636008" y="2359152"/>
            <a:ext cx="4142232" cy="45720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4818888" y="2459736"/>
            <a:ext cx="38221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A population built for long-term care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4818888" y="2779776"/>
            <a:ext cx="37947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High life expectancy, engaged families, and a culture of quality care. Home-based support is central to how care is delivered in Monaco.</a:t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818888" y="3291840"/>
            <a:ext cx="3776472" cy="548640"/>
          </a:xfrm>
          <a:prstGeom prst="rect">
            <a:avLst/>
          </a:prstGeom>
          <a:solidFill>
            <a:srgbClr val="F7F2F3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 txBox="1"/>
          <p:nvPr/>
        </p:nvSpPr>
        <p:spPr>
          <a:xfrm>
            <a:off x="4928616" y="334670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36653"/>
                </a:solidFill>
                <a:latin typeface="Poppins"/>
                <a:ea typeface="Poppins"/>
                <a:cs typeface="Poppins"/>
                <a:sym typeface="Poppins"/>
              </a:rPr>
              <a:t>87.0 years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6556248" y="3346704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Life expectancy</a:t>
            </a:r>
            <a:endParaRPr/>
          </a:p>
        </p:txBody>
      </p:sp>
      <p:sp>
        <p:nvSpPr>
          <p:cNvPr id="299" name="Google Shape;299;p8"/>
          <p:cNvSpPr txBox="1"/>
          <p:nvPr/>
        </p:nvSpPr>
        <p:spPr>
          <a:xfrm>
            <a:off x="6556248" y="351129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59002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Monegasque nationals</a:t>
            </a:r>
            <a:endParaRPr/>
          </a:p>
        </p:txBody>
      </p:sp>
      <p:sp>
        <p:nvSpPr>
          <p:cNvPr id="300" name="Google Shape;300;p8"/>
          <p:cNvSpPr txBox="1"/>
          <p:nvPr/>
        </p:nvSpPr>
        <p:spPr>
          <a:xfrm>
            <a:off x="6556248" y="3675887"/>
            <a:ext cx="203911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Men 84.0  /  Women 90.2  (2022–2024)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818888" y="4014215"/>
            <a:ext cx="64008" cy="64008"/>
          </a:xfrm>
          <a:prstGeom prst="ellipse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4965192" y="3968496"/>
            <a:ext cx="36850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Average age of Monegasque nationals: 45.1 years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4818888" y="4288536"/>
            <a:ext cx="64008" cy="64008"/>
          </a:xfrm>
          <a:prstGeom prst="ellipse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4965192" y="4242816"/>
            <a:ext cx="368503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Over 15% of Monegasque nationals are 75 or older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4818888" y="4498848"/>
            <a:ext cx="382219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1" u="none" strike="noStrike" cap="none">
                <a:solidFill>
                  <a:srgbClr val="897174"/>
                </a:solidFill>
                <a:latin typeface="Lato"/>
                <a:ea typeface="Lato"/>
                <a:cs typeface="Lato"/>
                <a:sym typeface="Lato"/>
              </a:rPr>
              <a:t>Source: IMSEE Observatoire 2024 — data concern Monegasque nationals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365760" y="4882896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1" u="none" strike="noStrike" cap="none">
                <a:solidFill>
                  <a:srgbClr val="897174"/>
                </a:solidFill>
                <a:latin typeface="Lato"/>
                <a:ea typeface="Lato"/>
                <a:cs typeface="Lato"/>
                <a:sym typeface="Lato"/>
              </a:rPr>
              <a:t>Population &amp; basin data: IMSEE Monaco en Chiffres 2025  /  imsee.mc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A grounded, step-by-step launch.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Starting with the people who already know the patients — and trust the project.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320040" y="1234440"/>
            <a:ext cx="2697480" cy="3584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320040" y="1234440"/>
            <a:ext cx="2697480" cy="5486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21207" y="1417320"/>
            <a:ext cx="438912" cy="438912"/>
          </a:xfrm>
          <a:prstGeom prst="ellipse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521207" y="14173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484632" y="203911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professional network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484632" y="2551176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The founder’s local network — physios, nurses, doctors and curators — is the natural first entry point.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84632" y="3264408"/>
            <a:ext cx="2368296" cy="27432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484632" y="3355848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They already work with vulnerable patients and their families. They will be the first users of the platform — and the first to recommend it.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3172968" y="1234440"/>
            <a:ext cx="2697480" cy="3584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172968" y="1234440"/>
            <a:ext cx="2697480" cy="54864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374136" y="1417320"/>
            <a:ext cx="438912" cy="438912"/>
          </a:xfrm>
          <a:prstGeom prst="ellipse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3374136" y="14173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3337560" y="203911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curators &amp; guardians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3337560" y="2551176"/>
            <a:ext cx="24231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Professional curators manage multiple patients at once. They have an immediate, practical need for a structured tool.</a:t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3337560" y="3264408"/>
            <a:ext cx="2368296" cy="27432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3337560" y="3355848"/>
            <a:ext cx="2423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They are natural early adopters and strong multipliers. Each curator can bring several care situations onto the platform.</a:t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6025896" y="1234440"/>
            <a:ext cx="2697480" cy="35844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025896" y="1234440"/>
            <a:ext cx="269748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227064" y="1417320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6227064" y="141732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6190488" y="203911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The families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6190488" y="2551176"/>
            <a:ext cx="24231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Once a professional introduces MONACARE, the family receives a simple access code. No complex sales process.</a:t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6190488" y="3264408"/>
            <a:ext cx="2368296" cy="27432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 txBox="1"/>
          <p:nvPr/>
        </p:nvSpPr>
        <p:spPr>
          <a:xfrm>
            <a:off x="6190488" y="3355848"/>
            <a:ext cx="242316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No technical friction. Just an invitation to stay informed — and a clear reason to subscribe.</a:t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0" y="4818888"/>
            <a:ext cx="9144000" cy="27432"/>
          </a:xfrm>
          <a:prstGeom prst="rect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8F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A simple, considered model.</a:t>
            </a:r>
            <a:endParaRPr/>
          </a:p>
        </p:txBody>
      </p:sp>
      <p:sp>
        <p:nvSpPr>
          <p:cNvPr id="349" name="Google Shape;349;p10"/>
          <p:cNvSpPr txBox="1"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Free for professionals. Accessible for families. Scalable for curators.</a:t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365760" y="1234440"/>
            <a:ext cx="4114800" cy="3611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65760" y="1234440"/>
            <a:ext cx="4114800" cy="54864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594360" y="1399032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Family Subscription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594360" y="1764792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Paid by the family — professionals are always free.</a:t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48640" y="2167128"/>
            <a:ext cx="3749039" cy="658368"/>
          </a:xfrm>
          <a:prstGeom prst="rect">
            <a:avLst/>
          </a:prstGeom>
          <a:solidFill>
            <a:srgbClr val="590021"/>
          </a:solidFill>
          <a:ln w="9525" cap="flat" cmpd="sng">
            <a:solidFill>
              <a:srgbClr val="59002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713232" y="2350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 patient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2907792" y="22951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C0C3"/>
                </a:solidFill>
                <a:latin typeface="Poppins"/>
                <a:ea typeface="Poppins"/>
                <a:cs typeface="Poppins"/>
                <a:sym typeface="Poppins"/>
              </a:rPr>
              <a:t>EUR29 / month</a:t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48640" y="2971800"/>
            <a:ext cx="3749039" cy="658368"/>
          </a:xfrm>
          <a:prstGeom prst="rect">
            <a:avLst/>
          </a:prstGeom>
          <a:solidFill>
            <a:srgbClr val="F7F2F3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713232" y="315468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1B1C"/>
                </a:solidFill>
                <a:latin typeface="Poppins"/>
                <a:ea typeface="Poppins"/>
                <a:cs typeface="Poppins"/>
                <a:sym typeface="Poppins"/>
              </a:rPr>
              <a:t>Additional patient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2907792" y="309981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B1535"/>
                </a:solidFill>
                <a:latin typeface="Poppins"/>
                <a:ea typeface="Poppins"/>
                <a:cs typeface="Poppins"/>
                <a:sym typeface="Poppins"/>
              </a:rPr>
              <a:t>+ EUR15 / month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48640" y="3904487"/>
            <a:ext cx="3749039" cy="548640"/>
          </a:xfrm>
          <a:prstGeom prst="rect">
            <a:avLst/>
          </a:prstGeom>
          <a:solidFill>
            <a:srgbClr val="F7F2F3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48640" y="3904487"/>
            <a:ext cx="4572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713232" y="3950207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C1B1C"/>
                </a:solidFill>
                <a:latin typeface="Lato"/>
                <a:ea typeface="Lato"/>
                <a:cs typeface="Lato"/>
                <a:sym typeface="Lato"/>
              </a:rPr>
              <a:t>Healthcare professionals &amp; companions</a:t>
            </a:r>
            <a:endParaRPr/>
          </a:p>
        </p:txBody>
      </p:sp>
      <p:sp>
        <p:nvSpPr>
          <p:cNvPr id="363" name="Google Shape;363;p10"/>
          <p:cNvSpPr txBox="1"/>
          <p:nvPr/>
        </p:nvSpPr>
        <p:spPr>
          <a:xfrm>
            <a:off x="713232" y="4178807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Always free — unlimited per patient.</a:t>
            </a:r>
            <a:endParaRPr/>
          </a:p>
        </p:txBody>
      </p:sp>
      <p:sp>
        <p:nvSpPr>
          <p:cNvPr id="364" name="Google Shape;364;p10"/>
          <p:cNvSpPr txBox="1"/>
          <p:nvPr/>
        </p:nvSpPr>
        <p:spPr>
          <a:xfrm>
            <a:off x="3337560" y="4014215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B4F72"/>
                </a:solidFill>
                <a:latin typeface="Poppins"/>
                <a:ea typeface="Poppins"/>
                <a:cs typeface="Poppins"/>
                <a:sym typeface="Poppins"/>
              </a:rPr>
              <a:t>FREE</a:t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4754880" y="1234440"/>
            <a:ext cx="4114800" cy="36118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754880" y="1234440"/>
            <a:ext cx="4114800" cy="5486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4983480" y="1399032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590021"/>
                </a:solidFill>
                <a:latin typeface="Poppins"/>
                <a:ea typeface="Poppins"/>
                <a:cs typeface="Poppins"/>
                <a:sym typeface="Poppins"/>
              </a:rPr>
              <a:t>Guardian / Curator Plan</a:t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4983480" y="1764792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Sliding scale — all care professionals included free.</a:t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4937760" y="2167128"/>
            <a:ext cx="3749039" cy="658368"/>
          </a:xfrm>
          <a:prstGeom prst="rect">
            <a:avLst/>
          </a:prstGeom>
          <a:solidFill>
            <a:srgbClr val="F7F2F3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5102352" y="235000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1B1C"/>
                </a:solidFill>
                <a:latin typeface="Poppins"/>
                <a:ea typeface="Poppins"/>
                <a:cs typeface="Poppins"/>
                <a:sym typeface="Poppins"/>
              </a:rPr>
              <a:t>Up to 10 patients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>
            <a:off x="7296912" y="2295144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B1535"/>
                </a:solidFill>
                <a:latin typeface="Poppins"/>
                <a:ea typeface="Poppins"/>
                <a:cs typeface="Poppins"/>
                <a:sym typeface="Poppins"/>
              </a:rPr>
              <a:t>EUR250 / month</a:t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4937760" y="2971800"/>
            <a:ext cx="3749039" cy="658368"/>
          </a:xfrm>
          <a:prstGeom prst="rect">
            <a:avLst/>
          </a:prstGeom>
          <a:solidFill>
            <a:srgbClr val="590021"/>
          </a:solidFill>
          <a:ln w="9525" cap="flat" cmpd="sng">
            <a:solidFill>
              <a:srgbClr val="59002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4937760" y="2971800"/>
            <a:ext cx="54864" cy="658368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5102352" y="315468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Up to 30 patients</a:t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7296912" y="3099816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CC0C3"/>
                </a:solidFill>
                <a:latin typeface="Poppins"/>
                <a:ea typeface="Poppins"/>
                <a:cs typeface="Poppins"/>
                <a:sym typeface="Poppins"/>
              </a:rPr>
              <a:t>EUR399 / month</a:t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4937760" y="3776472"/>
            <a:ext cx="3749039" cy="658368"/>
          </a:xfrm>
          <a:prstGeom prst="rect">
            <a:avLst/>
          </a:prstGeom>
          <a:solidFill>
            <a:srgbClr val="F7F2F3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5102352" y="395935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C1B1C"/>
                </a:solidFill>
                <a:latin typeface="Poppins"/>
                <a:ea typeface="Poppins"/>
                <a:cs typeface="Poppins"/>
                <a:sym typeface="Poppins"/>
              </a:rPr>
              <a:t>40+ patients</a:t>
            </a:r>
            <a:endParaRPr/>
          </a:p>
        </p:txBody>
      </p:sp>
      <p:sp>
        <p:nvSpPr>
          <p:cNvPr id="378" name="Google Shape;378;p10"/>
          <p:cNvSpPr txBox="1"/>
          <p:nvPr/>
        </p:nvSpPr>
        <p:spPr>
          <a:xfrm>
            <a:off x="7296912" y="3904487"/>
            <a:ext cx="120700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7B1535"/>
                </a:solidFill>
                <a:latin typeface="Poppins"/>
                <a:ea typeface="Poppins"/>
                <a:cs typeface="Poppins"/>
                <a:sym typeface="Poppins"/>
              </a:rPr>
              <a:t>Custom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4937760" y="4389120"/>
            <a:ext cx="3749039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>
                <a:solidFill>
                  <a:srgbClr val="564245"/>
                </a:solidFill>
                <a:latin typeface="Lato"/>
                <a:ea typeface="Lato"/>
                <a:cs typeface="Lato"/>
                <a:sym typeface="Lato"/>
              </a:rPr>
              <a:t>Revenue grows with each patient added to the platform.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900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583680" y="-91440"/>
            <a:ext cx="2926080" cy="164592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-91440" y="3931920"/>
            <a:ext cx="1645920" cy="1645920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 txBox="1"/>
          <p:nvPr/>
        </p:nvSpPr>
        <p:spPr>
          <a:xfrm>
            <a:off x="548640" y="256032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DCC0C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VISION</a:t>
            </a:r>
            <a:endParaRPr/>
          </a:p>
        </p:txBody>
      </p:sp>
      <p:sp>
        <p:nvSpPr>
          <p:cNvPr id="388" name="Google Shape;388;p11"/>
          <p:cNvSpPr txBox="1"/>
          <p:nvPr/>
        </p:nvSpPr>
        <p:spPr>
          <a:xfrm>
            <a:off x="548640" y="566928"/>
            <a:ext cx="6400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Building the new standard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coordinated home care.</a:t>
            </a:r>
            <a:endParaRPr/>
          </a:p>
        </p:txBody>
      </p:sp>
      <p:sp>
        <p:nvSpPr>
          <p:cNvPr id="389" name="Google Shape;389;p11"/>
          <p:cNvSpPr txBox="1"/>
          <p:nvPr/>
        </p:nvSpPr>
        <p:spPr>
          <a:xfrm>
            <a:off x="548640" y="1627632"/>
            <a:ext cx="5486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Starting in Monaco. </a:t>
            </a:r>
            <a:r>
              <a:rPr lang="en-US" sz="120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Built to extend far beyond it.</a:t>
            </a:r>
            <a:endParaRPr/>
          </a:p>
        </p:txBody>
      </p:sp>
      <p:sp>
        <p:nvSpPr>
          <p:cNvPr id="390" name="Google Shape;390;p11"/>
          <p:cNvSpPr txBox="1"/>
          <p:nvPr/>
        </p:nvSpPr>
        <p:spPr>
          <a:xfrm>
            <a:off x="548640" y="2103120"/>
            <a:ext cx="4389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the project </a:t>
            </a:r>
            <a:r>
              <a:rPr lang="en-US" sz="11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going:</a:t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548640" y="2523744"/>
            <a:ext cx="960120" cy="23774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566928" y="2523744"/>
            <a:ext cx="9235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Monaco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1609344" y="2505456"/>
            <a:ext cx="3383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The platform becomes </a:t>
            </a:r>
            <a:r>
              <a:rPr lang="en-US" sz="9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a leading</a:t>
            </a: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coordination tool across Monaco’s home care network.</a:t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548640" y="3145536"/>
            <a:ext cx="960120" cy="23774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566928" y="3145536"/>
            <a:ext cx="9235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French Riviera</a:t>
            </a:r>
            <a:endParaRPr/>
          </a:p>
        </p:txBody>
      </p:sp>
      <p:sp>
        <p:nvSpPr>
          <p:cNvPr id="396" name="Google Shape;396;p11"/>
          <p:cNvSpPr txBox="1"/>
          <p:nvPr/>
        </p:nvSpPr>
        <p:spPr>
          <a:xfrm>
            <a:off x="1609344" y="3127248"/>
            <a:ext cx="3383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A selective extension to Nice, Cannes and Antibes </a:t>
            </a:r>
            <a:r>
              <a:rPr lang="en-US" sz="9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using the</a:t>
            </a: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 same </a:t>
            </a:r>
            <a:r>
              <a:rPr lang="en-US" sz="9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network</a:t>
            </a: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-led approach</a:t>
            </a:r>
            <a:r>
              <a:rPr lang="en-US" sz="950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548640" y="3767328"/>
            <a:ext cx="960120" cy="237744"/>
          </a:xfrm>
          <a:prstGeom prst="rect">
            <a:avLst/>
          </a:prstGeom>
          <a:solidFill>
            <a:srgbClr val="7B1535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566928" y="3767328"/>
            <a:ext cx="9235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Long term</a:t>
            </a:r>
            <a:endParaRPr/>
          </a:p>
        </p:txBody>
      </p:sp>
      <p:sp>
        <p:nvSpPr>
          <p:cNvPr id="399" name="Google Shape;399;p11"/>
          <p:cNvSpPr txBox="1"/>
          <p:nvPr/>
        </p:nvSpPr>
        <p:spPr>
          <a:xfrm>
            <a:off x="1609344" y="3749040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A reference model for cities with high care needs across Europe.</a:t>
            </a:r>
            <a:endParaRPr/>
          </a:p>
        </p:txBody>
      </p:sp>
      <p:sp>
        <p:nvSpPr>
          <p:cNvPr id="400" name="Google Shape;400;p11"/>
          <p:cNvSpPr txBox="1"/>
          <p:nvPr/>
        </p:nvSpPr>
        <p:spPr>
          <a:xfrm>
            <a:off x="5212080" y="210312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we are now:</a:t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5212080" y="2523744"/>
            <a:ext cx="566928" cy="201168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 txBox="1"/>
          <p:nvPr/>
        </p:nvSpPr>
        <p:spPr>
          <a:xfrm>
            <a:off x="5230368" y="252374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Ready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5870448" y="250545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Working prototype, live on Vercel.</a:t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5212080" y="2980944"/>
            <a:ext cx="566928" cy="201168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 txBox="1"/>
          <p:nvPr/>
        </p:nvSpPr>
        <p:spPr>
          <a:xfrm>
            <a:off x="5230368" y="298094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Ready</a:t>
            </a:r>
            <a:endParaRPr/>
          </a:p>
        </p:txBody>
      </p:sp>
      <p:sp>
        <p:nvSpPr>
          <p:cNvPr id="406" name="Google Shape;406;p11"/>
          <p:cNvSpPr txBox="1"/>
          <p:nvPr/>
        </p:nvSpPr>
        <p:spPr>
          <a:xfrm>
            <a:off x="5870448" y="296265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Firebase Auth + Firestore — real-time sync operational.</a:t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5212080" y="3438144"/>
            <a:ext cx="566928" cy="201168"/>
          </a:xfrm>
          <a:prstGeom prst="rect">
            <a:avLst/>
          </a:prstGeom>
          <a:solidFill>
            <a:srgbClr val="43665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 txBox="1"/>
          <p:nvPr/>
        </p:nvSpPr>
        <p:spPr>
          <a:xfrm>
            <a:off x="5230368" y="343814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Ready</a:t>
            </a:r>
            <a:endParaRPr/>
          </a:p>
        </p:txBody>
      </p:sp>
      <p:sp>
        <p:nvSpPr>
          <p:cNvPr id="409" name="Google Shape;409;p11"/>
          <p:cNvSpPr txBox="1"/>
          <p:nvPr/>
        </p:nvSpPr>
        <p:spPr>
          <a:xfrm>
            <a:off x="5870448" y="341985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Role-based access, Medical Vault and Flux all functional.</a:t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5212080" y="3895344"/>
            <a:ext cx="566928" cy="201168"/>
          </a:xfrm>
          <a:prstGeom prst="rect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5230368" y="389534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Next</a:t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5870448" y="387705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CCIN declaration and HDS-certified hosting: compliance step before launch.</a:t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5212080" y="4352544"/>
            <a:ext cx="566928" cy="201168"/>
          </a:xfrm>
          <a:prstGeom prst="rect">
            <a:avLst/>
          </a:prstGeom>
          <a:solidFill>
            <a:srgbClr val="DCC0C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 txBox="1"/>
          <p:nvPr/>
        </p:nvSpPr>
        <p:spPr>
          <a:xfrm>
            <a:off x="5230368" y="4352544"/>
            <a:ext cx="5303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Next</a:t>
            </a:r>
            <a:endParaRPr/>
          </a:p>
        </p:txBody>
      </p:sp>
      <p:sp>
        <p:nvSpPr>
          <p:cNvPr id="415" name="Google Shape;415;p11"/>
          <p:cNvSpPr txBox="1"/>
          <p:nvPr/>
        </p:nvSpPr>
        <p:spPr>
          <a:xfrm>
            <a:off x="5870448" y="4334256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DCC0C3"/>
                </a:solidFill>
                <a:latin typeface="Lato"/>
                <a:ea typeface="Lato"/>
                <a:cs typeface="Lato"/>
                <a:sym typeface="Lato"/>
              </a:rPr>
              <a:t>iOS &amp; Android native apps: on the roadmap.</a:t>
            </a:r>
            <a:endParaRPr/>
          </a:p>
        </p:txBody>
      </p:sp>
      <p:sp>
        <p:nvSpPr>
          <p:cNvPr id="416" name="Google Shape;416;p11"/>
          <p:cNvSpPr/>
          <p:nvPr/>
        </p:nvSpPr>
        <p:spPr>
          <a:xfrm>
            <a:off x="548640" y="4626864"/>
            <a:ext cx="8046720" cy="365760"/>
          </a:xfrm>
          <a:prstGeom prst="rect">
            <a:avLst/>
          </a:prstGeom>
          <a:solidFill>
            <a:srgbClr val="7B1535"/>
          </a:solidFill>
          <a:ln w="9525" cap="flat" cmpd="sng">
            <a:solidFill>
              <a:srgbClr val="DCC0C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 txBox="1"/>
          <p:nvPr/>
        </p:nvSpPr>
        <p:spPr>
          <a:xfrm>
            <a:off x="548650" y="4734241"/>
            <a:ext cx="8046600" cy="1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0" rIns="27425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Tristan Doucet</a:t>
            </a:r>
            <a:r>
              <a:rPr lang="en-US" sz="95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/  </a:t>
            </a:r>
            <a:r>
              <a:rPr lang="en-US" sz="9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tristan0612@hotmail.fr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1468</Words>
  <Application>Microsoft Office PowerPoint</Application>
  <PresentationFormat>Affichage à l'écran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Lato</vt:lpstr>
      <vt:lpstr>Calibri</vt:lpstr>
      <vt:lpstr>Poppins Light</vt:lpstr>
      <vt:lpstr>Poppins</vt:lpstr>
      <vt:lpstr>Arial</vt:lpstr>
      <vt:lpstr>Poppins Medium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gsl fedou</cp:lastModifiedBy>
  <cp:revision>4</cp:revision>
  <dcterms:created xsi:type="dcterms:W3CDTF">2013-01-27T09:14:16Z</dcterms:created>
  <dcterms:modified xsi:type="dcterms:W3CDTF">2026-04-15T16:52:55Z</dcterms:modified>
</cp:coreProperties>
</file>