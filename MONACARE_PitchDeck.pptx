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"/>
            <a:ext cx="3200400" cy="182880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" y="3840480"/>
            <a:ext cx="1828800" cy="16459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5029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MONACARE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97280" y="28803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Coordination Platform for Monaco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474720" y="3364992"/>
            <a:ext cx="2194560" cy="27432"/>
          </a:xfrm>
          <a:prstGeom prst="rect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3493008"/>
            <a:ext cx="2194560" cy="384048"/>
          </a:xfrm>
          <a:prstGeom prst="rect">
            <a:avLst/>
          </a:prstGeom>
          <a:solidFill>
            <a:srgbClr val="7B1535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34930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206240" cy="5079492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Coordinated home care,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reimagined for Monaco.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MONACARE connects patients, their families, healthcare professionals, home companions and legal guardians around a single secure platform — the coordinated home care hub Monaco doesn't yet have.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907792"/>
            <a:ext cx="3383280" cy="36576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072384"/>
            <a:ext cx="45720" cy="2743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540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family, medical, companion, guardian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93008"/>
            <a:ext cx="45720" cy="2743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Biometric-locked Medical Vault + voice dictation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913632"/>
            <a:ext cx="45720" cy="2743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953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Administrator-validated accounts — zero unauthorised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334256"/>
            <a:ext cx="45720" cy="2743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1596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cloud sync across all devices (Firebase)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82880"/>
            <a:ext cx="2240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82880"/>
            <a:ext cx="2240280" cy="54864"/>
          </a:xfrm>
          <a:prstGeom prst="rect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10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704088"/>
            <a:ext cx="73152" cy="73152"/>
          </a:xfrm>
          <a:prstGeom prst="ellipse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65836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live on Vercel.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1216152"/>
            <a:ext cx="73152" cy="73152"/>
          </a:xfrm>
          <a:prstGeom prst="ellipse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170432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 — real-time sync.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728216"/>
            <a:ext cx="73152" cy="73152"/>
          </a:xfrm>
          <a:prstGeom prst="ellipse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1682496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Beta-ready. Awaiting first pilot clinics.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39712" y="182880"/>
            <a:ext cx="2240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182880"/>
            <a:ext cx="2240280" cy="54864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310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22592" y="704088"/>
            <a:ext cx="73152" cy="73152"/>
          </a:xfrm>
          <a:prstGeom prst="ellipse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65836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Loi n°1.165 — CCIN authority.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22592" y="1216152"/>
            <a:ext cx="73152" cy="73152"/>
          </a:xfrm>
          <a:prstGeom prst="ellipse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1170432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CCIN declaration: to be filed.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22592" y="1728216"/>
            <a:ext cx="73152" cy="73152"/>
          </a:xfrm>
          <a:prstGeom prst="ellipse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1682496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HDS-certified hosting: required for production.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34840" y="2679192"/>
            <a:ext cx="2240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34840" y="2679192"/>
            <a:ext cx="224028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07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200400"/>
            <a:ext cx="73152" cy="7315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3154680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families pay from €29/month.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3712464"/>
            <a:ext cx="73152" cy="7315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3666744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&amp; companions: always free.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4224528"/>
            <a:ext cx="73152" cy="7315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417880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Guardians/curators: tiered plan.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39712" y="2679192"/>
            <a:ext cx="2240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39712" y="2679192"/>
            <a:ext cx="2240280" cy="54864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22592" y="2807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22592" y="3200400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3154680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pilot → Côte d'Azur expansion.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022592" y="3712464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68896" y="3666744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platform for coordinated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22592" y="4224528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8896" y="417880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in southern Europe.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Coordination Is Broken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at the centre — but care teams and families are disconnected.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27048"/>
            <a:ext cx="457200" cy="457200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002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271576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receive updates by phone, WhatsApp or not at all. Medical notes are scattered across paper files, emails and private messages.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72968" y="132588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325880"/>
            <a:ext cx="269748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55848" y="1527048"/>
            <a:ext cx="457200" cy="457200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002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Secure Patient Hub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71576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vital signs and clinical notes are shared informally. There is no RGPD-compliant, access-controlled record for home care.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25896" y="132588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25896" y="1325880"/>
            <a:ext cx="269748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08776" y="1527048"/>
            <a:ext cx="457200" cy="457200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60020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2148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Professionals Waste Hours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0488" y="271576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professionals spend up to 30% of their time on coordination admin — chasing updates, repeating information, managing access.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19933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MONACARE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11480" y="2651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all-in-one platform connecting patients, families and healthcare professionals — purpose-built for the Monaco medical ecosystem.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3730752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care updates between teams &amp; families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4096512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041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Biometric-secured Medical Vault with vital signs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462272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407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validated by administrator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182880"/>
            <a:ext cx="3566160" cy="4754880"/>
          </a:xfrm>
          <a:prstGeom prst="rect">
            <a:avLst/>
          </a:prstGeom>
          <a:solidFill>
            <a:srgbClr val="1C1B1C"/>
          </a:solidFill>
          <a:ln w="25400">
            <a:solidFill>
              <a:srgbClr val="2E2E2E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329184"/>
            <a:ext cx="3273552" cy="44622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182880"/>
            <a:ext cx="822960" cy="182880"/>
          </a:xfrm>
          <a:prstGeom prst="rect">
            <a:avLst/>
          </a:prstGeom>
          <a:solidFill>
            <a:srgbClr val="1C1B1C"/>
          </a:solidFill>
          <a:ln w="12700">
            <a:solidFill>
              <a:srgbClr val="1C1B1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Platform Built for Healthcare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modules — available on any device, in real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36192"/>
            <a:ext cx="54864" cy="1271016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08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408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792224"/>
            <a:ext cx="3675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feed shared between care professionals, companions and families. Role-based visibility: Public, Team-only, or Medical-only. No more informal messaging chains.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2801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536192"/>
            <a:ext cx="54864" cy="1271016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408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Vault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3800" y="1408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Clinical Records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37176" y="1792224"/>
            <a:ext cx="3675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Biometric-locked storage for vital signs, pain tracking and voice-dictated clinical notes — with interactive charts. Accessible from any device.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02152"/>
            <a:ext cx="54864" cy="1271016"/>
          </a:xfrm>
          <a:prstGeom prst="rect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374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3741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Permissions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3758184"/>
            <a:ext cx="3675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— family, nurse, doctor, aide — gets a tailored view. No self-sign-up: each account is manually validated by the clinic administrator.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3246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502152"/>
            <a:ext cx="54864" cy="1271016"/>
          </a:xfrm>
          <a:prstGeom prst="rect">
            <a:avLst/>
          </a:prstGeom>
          <a:solidFill>
            <a:srgbClr val="1C1B1C"/>
          </a:solidFill>
          <a:ln w="12700">
            <a:solidFill>
              <a:srgbClr val="1C1B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3374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Messaging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33741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37176" y="3758184"/>
            <a:ext cx="3675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encrypted care team chat organised by patient. No personal email, no WhatsApp — a compliant channel for every professional interaction.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2930" y="731520"/>
            <a:ext cx="2331720" cy="3657600"/>
          </a:xfrm>
          <a:prstGeom prst="rect">
            <a:avLst/>
          </a:prstGeom>
          <a:solidFill>
            <a:srgbClr val="2E2E2E"/>
          </a:solidFill>
          <a:ln w="25400">
            <a:solidFill>
              <a:srgbClr val="44444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5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822960"/>
            <a:ext cx="21488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7210" y="4425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&amp; Login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7210" y="4718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onboarding with access code or professional ID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06140" y="731520"/>
            <a:ext cx="2331720" cy="3657600"/>
          </a:xfrm>
          <a:prstGeom prst="rect">
            <a:avLst/>
          </a:prstGeom>
          <a:solidFill>
            <a:srgbClr val="2E2E2E"/>
          </a:solidFill>
          <a:ln w="25400">
            <a:solidFill>
              <a:srgbClr val="44444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5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822960"/>
            <a:ext cx="2148840" cy="3474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60420" y="4425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Flux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60420" y="4718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activity feed — medical, team &amp; public visibility levels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29350" y="731520"/>
            <a:ext cx="2331720" cy="3657600"/>
          </a:xfrm>
          <a:prstGeom prst="rect">
            <a:avLst/>
          </a:prstGeom>
          <a:solidFill>
            <a:srgbClr val="2E2E2E"/>
          </a:solidFill>
          <a:ln w="25400">
            <a:solidFill>
              <a:srgbClr val="44444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5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822960"/>
            <a:ext cx="2148840" cy="3474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3630" y="4425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Vault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183630" y="4718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lock, vital signs charts &amp; clinical dictation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Every Stakeholder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profiles — each with tailored permissions, access level and pricing.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98448"/>
            <a:ext cx="749808" cy="1508760"/>
          </a:xfrm>
          <a:prstGeom prst="rect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81965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426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93592" y="142646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€29/mo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61872" y="1773936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unique access code. Views the Flux, the assigned care team, and can log vital signs at home. Can approve or deny professional access requests.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61872" y="24871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Simplified, caring UI  ·  Approve access requests  ·  Home vital log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36008" y="1298448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36008" y="1298448"/>
            <a:ext cx="749808" cy="1508760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81965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50408" y="1426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Professional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882128" y="142646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550408" y="1773936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Nurses, doctors, physiotherapists. Validated by the administrator before first login. Full access to the Flux and Medical Vault. Voice dictation for clinical notes.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550408" y="24871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Flux + Vault access  ·  Voice-dictated notes  ·  Medical visibility only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47472" y="2935224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7472" y="2935224"/>
            <a:ext cx="749808" cy="1508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45643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61872" y="3063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Companion / Aide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593592" y="306324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261872" y="341071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Non-medical home workers: housekeepers, meal assistants, delivery staff. Log daily activity updates (meals taken, visits made) visible to families. No medical data access.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261872" y="41239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activity logging  ·  Flux only — no Vault  ·  Continuity of home life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36008" y="2935224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36008" y="2935224"/>
            <a:ext cx="749808" cy="150876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45643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0408" y="3063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Guardian / Curator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882128" y="306324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550408" y="341071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guardians or professional curators managing multiple patients. Access a consolidated dashboard across all their cases, with a sliding scale subscription based on caseload.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550408" y="41239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dashboard  ·  Tiered pricing by volume  ·  Full case oversight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High-Value, Measurable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Monaco: concentrated seniors, solvent families, and a 200,000-person addressable basin beyond its borders.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04825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2048256" cy="45720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350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38,857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 of the Principality in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23744" y="1261872"/>
            <a:ext cx="204825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23744" y="1261872"/>
            <a:ext cx="2048256" cy="457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3350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33472" y="1719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65+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33472" y="19019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10,574 residents — more than 1 in 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1261872"/>
            <a:ext cx="204825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261872"/>
            <a:ext cx="2048256" cy="45720"/>
          </a:xfrm>
          <a:prstGeom prst="rect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3350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6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14.9%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91456" y="1719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3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75+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91456" y="19019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5,798 residents needing intensive home support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39712" y="1261872"/>
            <a:ext cx="204825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9712" y="1261872"/>
            <a:ext cx="2048256" cy="45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3350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204,441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719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BASIN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0" y="19019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65+ in the surrounding municipalities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414223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423160"/>
            <a:ext cx="4142232" cy="45720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532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Healthcare Ecosystem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980944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29169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2144" y="291693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beds &amp; places at CHPG — 443 in geriatric &amp; home care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401568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33375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4,168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" y="3337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private-sector employees in health &amp; social services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822192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7581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52144" y="37581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nursing aide training at CHPG — dedicated pipeline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242816"/>
            <a:ext cx="73152" cy="73152"/>
          </a:xfrm>
          <a:prstGeom prst="ellipse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1788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2144" y="41788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Loi n°1.165 — independent regulatory authority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44531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9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CHPG (chpg.mc) · IMSEE Emploi 2025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36008" y="2423160"/>
            <a:ext cx="414223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36008" y="2423160"/>
            <a:ext cx="4142232" cy="45720"/>
          </a:xfrm>
          <a:prstGeom prst="rect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2532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Population Built for Long-Term Care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18888" y="2935224"/>
            <a:ext cx="3776472" cy="658368"/>
          </a:xfrm>
          <a:prstGeom prst="rect">
            <a:avLst/>
          </a:prstGeom>
          <a:solidFill>
            <a:srgbClr val="F7F2F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29900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6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87.0 years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647688" y="29900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at birth — Monégasque nationals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47688" y="322783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84.0  ·  Women 90.2  (2022–2024)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18888" y="3803904"/>
            <a:ext cx="64008" cy="64008"/>
          </a:xfrm>
          <a:prstGeom prst="ellipse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373989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Monégasque nationals: 45.1 years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18888" y="4114800"/>
            <a:ext cx="64008" cy="64008"/>
          </a:xfrm>
          <a:prstGeom prst="ellipse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40507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15% of Monégasque nationals are 75 or older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18888" y="4425696"/>
            <a:ext cx="64008" cy="64008"/>
          </a:xfrm>
          <a:prstGeom prst="ellipse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65192" y="436168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to the French Riviera — same language, adjacent demographics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18888" y="44531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9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Life expectancy &amp; age data concern Monégasque nationals, not all residents  ·  Source: IMSEE Observatoire démographie des Monégasques 2024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9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basin data: IMSEE Monaco en Chiffres 2025 — Population &amp; Cadre de vie  ·  imsee.mc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and guardians subscribe. Professionals and companions are always free.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4114800" cy="54864"/>
          </a:xfrm>
          <a:prstGeom prst="rect">
            <a:avLst/>
          </a:prstGeom>
          <a:solidFill>
            <a:srgbClr val="436653"/>
          </a:solidFill>
          <a:ln w="12700">
            <a:solidFill>
              <a:srgbClr val="436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Subscription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922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the family — professionals are always free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3749040" cy="658368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patient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07792" y="23500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CC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€29 / month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3749040" cy="658368"/>
          </a:xfrm>
          <a:prstGeom prst="rect">
            <a:avLst/>
          </a:prstGeom>
          <a:solidFill>
            <a:srgbClr val="F7F2F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09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patient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07792" y="315468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B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€15 / month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3749040" cy="530352"/>
          </a:xfrm>
          <a:prstGeom prst="rect">
            <a:avLst/>
          </a:prstGeom>
          <a:solidFill>
            <a:srgbClr val="F7F2F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59352"/>
            <a:ext cx="45720" cy="5303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005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 &amp; companions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 — unlimited per patient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40507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11480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61872"/>
            <a:ext cx="4114800" cy="54864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42646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Guardian / Curator Plan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17922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scale — all care professionals included free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221992"/>
            <a:ext cx="3749040" cy="658368"/>
          </a:xfrm>
          <a:prstGeom prst="rect">
            <a:avLst/>
          </a:prstGeom>
          <a:solidFill>
            <a:srgbClr val="F7F2F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10 patients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96912" y="23500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B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€250 / month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937760" y="3026664"/>
            <a:ext cx="3749040" cy="658368"/>
          </a:xfrm>
          <a:prstGeom prst="rect">
            <a:avLst/>
          </a:prstGeom>
          <a:solidFill>
            <a:srgbClr val="590021"/>
          </a:solidFill>
          <a:ln w="12700">
            <a:solidFill>
              <a:srgbClr val="59002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3026664"/>
            <a:ext cx="54864" cy="65836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209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30 patients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96912" y="315468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CC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€399 / month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937760" y="3831336"/>
            <a:ext cx="3749040" cy="658368"/>
          </a:xfrm>
          <a:prstGeom prst="rect">
            <a:avLst/>
          </a:prstGeom>
          <a:solidFill>
            <a:srgbClr val="F7F2F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4014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patients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96912" y="395935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B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937760" y="4370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grows with each patient activated. Year 1 target: 200 family subscriptions + 10 guardian accounts.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funded beta to scaled platform — in 18 months.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07208"/>
            <a:ext cx="7863840" cy="54864"/>
          </a:xfrm>
          <a:prstGeom prst="rect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679192"/>
            <a:ext cx="310896" cy="310896"/>
          </a:xfrm>
          <a:prstGeom prst="ellipse">
            <a:avLst/>
          </a:prstGeom>
          <a:solidFill>
            <a:srgbClr val="5900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523744"/>
            <a:ext cx="36576" cy="15544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" y="1261872"/>
            <a:ext cx="1783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" y="1261872"/>
            <a:ext cx="1783080" cy="54864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533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16093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Launch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195681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closed. 3 pilot care agencies in Monaco. Full Firebase backend.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44952" y="2679192"/>
            <a:ext cx="310896" cy="310896"/>
          </a:xfrm>
          <a:prstGeom prst="ellipse">
            <a:avLst/>
          </a:prstGeom>
          <a:solidFill>
            <a:srgbClr val="5900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990088"/>
            <a:ext cx="36576" cy="73152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13432" y="3063240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13432" y="3063240"/>
            <a:ext cx="1783080" cy="54864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34107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37581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CCIN declaration. HDS-certified hosting migration. First paying clients.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39512" y="2679192"/>
            <a:ext cx="310896" cy="310896"/>
          </a:xfrm>
          <a:prstGeom prst="ellipse">
            <a:avLst/>
          </a:prstGeom>
          <a:solidFill>
            <a:srgbClr val="5900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2523744"/>
            <a:ext cx="36576" cy="155448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7992" y="1261872"/>
            <a:ext cx="1783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07992" y="1261872"/>
            <a:ext cx="1783080" cy="54864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3533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16093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195681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care teams onboarded. Mobile app (iOS/Android) published.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34072" y="2679192"/>
            <a:ext cx="310896" cy="310896"/>
          </a:xfrm>
          <a:prstGeom prst="ellipse">
            <a:avLst/>
          </a:prstGeom>
          <a:solidFill>
            <a:srgbClr val="5900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990088"/>
            <a:ext cx="36576" cy="73152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2552" y="3063240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C0C3"/>
            </a:solidFill>
            <a:prstDash val="solid"/>
          </a:ln>
          <a:effectLst>
            <a:outerShdw sx="100000" sy="100000" kx="0" ky="0" algn="bl" rotWithShape="0" blurRad="101600" dist="25400" dir="8100000">
              <a:srgbClr val="5642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02552" y="3063240"/>
            <a:ext cx="1783080" cy="54864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154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12280" y="34107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0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37581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funding round. Côte d'Azur launch (Nice, Cannes, Antibes).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9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"/>
            <a:ext cx="2926080" cy="16459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" y="3931920"/>
            <a:ext cx="1645920" cy="1645920"/>
          </a:xfrm>
          <a:prstGeom prst="rect">
            <a:avLst/>
          </a:prstGeom>
          <a:solidFill>
            <a:srgbClr val="7B1535"/>
          </a:solidFill>
          <a:ln w="12700">
            <a:solidFill>
              <a:srgbClr val="7B1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Standard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Coordinated Home Care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in Monaco — scaling to the French Riviera and beyond.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Investment Goes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3840480" cy="182880"/>
          </a:xfrm>
          <a:prstGeom prst="rect">
            <a:avLst/>
          </a:prstGeom>
          <a:solidFill>
            <a:srgbClr val="3D0018"/>
          </a:solidFill>
          <a:ln w="12700">
            <a:solidFill>
              <a:srgbClr val="3D00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61488"/>
            <a:ext cx="1728216" cy="182880"/>
          </a:xfrm>
          <a:prstGeom prst="rect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0358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840480" cy="182880"/>
          </a:xfrm>
          <a:prstGeom prst="rect">
            <a:avLst/>
          </a:prstGeom>
          <a:solidFill>
            <a:srgbClr val="3D0018"/>
          </a:solidFill>
          <a:ln w="12700">
            <a:solidFill>
              <a:srgbClr val="3D00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28416"/>
            <a:ext cx="960120" cy="182880"/>
          </a:xfrm>
          <a:prstGeom prst="rect">
            <a:avLst/>
          </a:prstGeom>
          <a:solidFill>
            <a:srgbClr val="B89EA0"/>
          </a:solidFill>
          <a:ln w="12700">
            <a:solidFill>
              <a:srgbClr val="B89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602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95344"/>
            <a:ext cx="3840480" cy="182880"/>
          </a:xfrm>
          <a:prstGeom prst="rect">
            <a:avLst/>
          </a:prstGeom>
          <a:solidFill>
            <a:srgbClr val="3D0018"/>
          </a:solidFill>
          <a:ln w="12700">
            <a:solidFill>
              <a:srgbClr val="3D00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95344"/>
            <a:ext cx="768096" cy="182880"/>
          </a:xfrm>
          <a:prstGeom prst="rect">
            <a:avLst/>
          </a:prstGeom>
          <a:solidFill>
            <a:srgbClr val="9B7C80"/>
          </a:solidFill>
          <a:ln w="12700">
            <a:solidFill>
              <a:srgbClr val="9B7C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69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169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62272"/>
            <a:ext cx="3840480" cy="182880"/>
          </a:xfrm>
          <a:prstGeom prst="rect">
            <a:avLst/>
          </a:prstGeom>
          <a:solidFill>
            <a:srgbClr val="3D0018"/>
          </a:solidFill>
          <a:ln w="12700">
            <a:solidFill>
              <a:srgbClr val="3D00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62272"/>
            <a:ext cx="384048" cy="182880"/>
          </a:xfrm>
          <a:prstGeom prst="rect">
            <a:avLst/>
          </a:prstGeom>
          <a:solidFill>
            <a:srgbClr val="7B5A60"/>
          </a:solidFill>
          <a:ln w="12700">
            <a:solidFill>
              <a:srgbClr val="7B5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Investment Enables: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2606040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560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3-clinic beta in Monaco (Q3 2026)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12080" y="3008376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962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CCIN regulatory compliance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12080" y="3410712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3649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HDS-certified hosting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212080" y="3813048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7673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15+ paying care teams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12080" y="4215384"/>
            <a:ext cx="91440" cy="91440"/>
          </a:xfrm>
          <a:prstGeom prst="ellipse">
            <a:avLst/>
          </a:prstGeom>
          <a:solidFill>
            <a:srgbClr val="DCC0C3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1696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iOS &amp; Android native apps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7B1535"/>
          </a:solidFill>
          <a:ln w="12700">
            <a:solidFill>
              <a:srgbClr val="DCC0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monacare.mc  ·  contact@monacare.mc  ·  Confidential — For Investor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MONACARE — Investor Pitch</dc:title>
  <dc:subject>PptxGenJS Presentation</dc:subject>
  <dc:creator>PptxGenJS</dc:creator>
  <cp:lastModifiedBy>PptxGenJS</cp:lastModifiedBy>
  <cp:revision>1</cp:revision>
  <dcterms:created xsi:type="dcterms:W3CDTF">2026-04-01T16:16:46Z</dcterms:created>
  <dcterms:modified xsi:type="dcterms:W3CDTF">2026-04-01T16:16:46Z</dcterms:modified>
</cp:coreProperties>
</file>